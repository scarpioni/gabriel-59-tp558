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307" r:id="rId3"/>
    <p:sldId id="318" r:id="rId4"/>
    <p:sldId id="319" r:id="rId5"/>
    <p:sldId id="321" r:id="rId6"/>
    <p:sldId id="323" r:id="rId7"/>
    <p:sldId id="322" r:id="rId8"/>
    <p:sldId id="315" r:id="rId9"/>
    <p:sldId id="308" r:id="rId10"/>
    <p:sldId id="325" r:id="rId11"/>
    <p:sldId id="357" r:id="rId12"/>
    <p:sldId id="358" r:id="rId13"/>
    <p:sldId id="356" r:id="rId14"/>
    <p:sldId id="335" r:id="rId15"/>
    <p:sldId id="333" r:id="rId16"/>
    <p:sldId id="334" r:id="rId17"/>
    <p:sldId id="359" r:id="rId18"/>
    <p:sldId id="330" r:id="rId19"/>
    <p:sldId id="309" r:id="rId20"/>
    <p:sldId id="360" r:id="rId21"/>
    <p:sldId id="343" r:id="rId22"/>
    <p:sldId id="310" r:id="rId23"/>
    <p:sldId id="329" r:id="rId24"/>
    <p:sldId id="336" r:id="rId25"/>
    <p:sldId id="331" r:id="rId26"/>
    <p:sldId id="337" r:id="rId27"/>
    <p:sldId id="339" r:id="rId28"/>
    <p:sldId id="340" r:id="rId29"/>
    <p:sldId id="342" r:id="rId30"/>
    <p:sldId id="346" r:id="rId31"/>
    <p:sldId id="341" r:id="rId32"/>
    <p:sldId id="344" r:id="rId33"/>
    <p:sldId id="345" r:id="rId34"/>
    <p:sldId id="348" r:id="rId35"/>
    <p:sldId id="349" r:id="rId36"/>
    <p:sldId id="350" r:id="rId37"/>
    <p:sldId id="351" r:id="rId38"/>
    <p:sldId id="354" r:id="rId39"/>
    <p:sldId id="352" r:id="rId40"/>
    <p:sldId id="353" r:id="rId41"/>
    <p:sldId id="355" r:id="rId42"/>
    <p:sldId id="311" r:id="rId43"/>
    <p:sldId id="361" r:id="rId44"/>
    <p:sldId id="312" r:id="rId45"/>
    <p:sldId id="363" r:id="rId46"/>
    <p:sldId id="293" r:id="rId47"/>
    <p:sldId id="362" r:id="rId48"/>
    <p:sldId id="306" r:id="rId4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65" d="100"/>
          <a:sy n="65" d="100"/>
        </p:scale>
        <p:origin x="1541" y="5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16/03/2026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56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018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5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80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22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37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929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24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m.com/technologies/cmsis?utm_source=chatgpt.com" TargetMode="External"/><Relationship Id="rId2" Type="http://schemas.openxmlformats.org/officeDocument/2006/relationships/hyperlink" Target="https://stm32ai.st.com/stm32-cube-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ulp-platform/fann-on-mcu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9290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sz="5400" dirty="0"/>
            </a:br>
            <a:br>
              <a:rPr lang="pt-BR" sz="3600" dirty="0"/>
            </a:br>
            <a:r>
              <a:rPr lang="pt-BR" sz="3600" b="1" i="1" dirty="0"/>
              <a:t>FANN-</a:t>
            </a:r>
            <a:r>
              <a:rPr lang="pt-BR" sz="3600" b="1" i="1" dirty="0" err="1"/>
              <a:t>on</a:t>
            </a:r>
            <a:r>
              <a:rPr lang="pt-BR" sz="3600" b="1" i="1" dirty="0"/>
              <a:t>-MCU: </a:t>
            </a:r>
            <a:r>
              <a:rPr lang="pt-BR" sz="3600" b="1" i="1" dirty="0" err="1"/>
              <a:t>An</a:t>
            </a:r>
            <a:r>
              <a:rPr lang="pt-BR" sz="3600" b="1" i="1" dirty="0"/>
              <a:t> Open-</a:t>
            </a:r>
            <a:r>
              <a:rPr lang="pt-BR" sz="3600" b="1" i="1" dirty="0" err="1"/>
              <a:t>Source</a:t>
            </a:r>
            <a:r>
              <a:rPr lang="pt-BR" sz="3600" b="1" i="1" dirty="0"/>
              <a:t> Toolkit for Energy-</a:t>
            </a:r>
            <a:r>
              <a:rPr lang="pt-BR" sz="3600" b="1" i="1" dirty="0" err="1"/>
              <a:t>Efficient</a:t>
            </a:r>
            <a:r>
              <a:rPr lang="pt-BR" sz="3600" b="1" i="1" dirty="0"/>
              <a:t> Neural Network </a:t>
            </a:r>
            <a:r>
              <a:rPr lang="pt-BR" sz="3600" b="1" i="1" dirty="0" err="1"/>
              <a:t>Inference</a:t>
            </a:r>
            <a:r>
              <a:rPr lang="pt-BR" sz="3600" b="1" i="1" dirty="0"/>
              <a:t> </a:t>
            </a:r>
            <a:r>
              <a:rPr lang="pt-BR" sz="3600" b="1" i="1" dirty="0" err="1"/>
              <a:t>at</a:t>
            </a:r>
            <a:r>
              <a:rPr lang="pt-BR" sz="3600" b="1" i="1" dirty="0"/>
              <a:t> </a:t>
            </a:r>
            <a:r>
              <a:rPr lang="pt-BR" sz="3600" b="1" i="1" dirty="0" err="1"/>
              <a:t>the</a:t>
            </a:r>
            <a:r>
              <a:rPr lang="pt-BR" sz="3600" b="1" i="1" dirty="0"/>
              <a:t> Edge </a:t>
            </a:r>
            <a:r>
              <a:rPr lang="pt-BR" sz="3600" b="1" i="1" dirty="0" err="1"/>
              <a:t>of</a:t>
            </a:r>
            <a:r>
              <a:rPr lang="pt-BR" sz="3600" b="1" i="1" dirty="0"/>
              <a:t> </a:t>
            </a:r>
            <a:r>
              <a:rPr lang="pt-BR" sz="3600" b="1" i="1" dirty="0" err="1"/>
              <a:t>the</a:t>
            </a:r>
            <a:r>
              <a:rPr lang="pt-BR" sz="3600" b="1" i="1" dirty="0"/>
              <a:t> Internet </a:t>
            </a:r>
            <a:r>
              <a:rPr lang="pt-BR" sz="3600" b="1" i="1" dirty="0" err="1"/>
              <a:t>of</a:t>
            </a:r>
            <a:r>
              <a:rPr lang="pt-BR" sz="3600" b="1" i="1" dirty="0"/>
              <a:t> </a:t>
            </a:r>
            <a:r>
              <a:rPr lang="pt-BR" sz="3600" b="1" i="1" dirty="0" err="1"/>
              <a:t>Things</a:t>
            </a:r>
            <a:endParaRPr lang="pt-BR" sz="3600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Gabriel Dias Scarpioni</a:t>
            </a:r>
          </a:p>
          <a:p>
            <a:r>
              <a:rPr lang="pt-BR" dirty="0"/>
              <a:t>gabriel.scarpioni@inatel.br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67308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Abertura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0880" cy="4351338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dirty="0"/>
              <a:t>Expansão das aplicações de Internet das Coisas (IoT):</a:t>
            </a:r>
          </a:p>
          <a:p>
            <a:pPr lvl="1" fontAlgn="base"/>
            <a:r>
              <a:rPr lang="pt-BR" dirty="0"/>
              <a:t>Dispositivos de baixa potência.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Necessidade de processamento de dados próximo à fonte:</a:t>
            </a:r>
          </a:p>
          <a:p>
            <a:pPr lvl="1" fontAlgn="base"/>
            <a:r>
              <a:rPr lang="pt-BR" dirty="0"/>
              <a:t>Edge </a:t>
            </a:r>
            <a:r>
              <a:rPr lang="pt-BR" dirty="0" err="1"/>
              <a:t>Computing</a:t>
            </a:r>
            <a:r>
              <a:rPr lang="pt-BR" dirty="0"/>
              <a:t>.</a:t>
            </a:r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Limitações de hardware: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memória reduzida;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capacidade computacional limitada;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restrições energéticas.</a:t>
            </a:r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Abertura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0880" cy="4679632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FANN-</a:t>
            </a:r>
            <a:r>
              <a:rPr lang="pt-BR" dirty="0" err="1"/>
              <a:t>on</a:t>
            </a:r>
            <a:r>
              <a:rPr lang="pt-BR" dirty="0"/>
              <a:t>-MCU:</a:t>
            </a:r>
          </a:p>
          <a:p>
            <a:pPr lvl="1" fontAlgn="base"/>
            <a:r>
              <a:rPr lang="pt-BR" dirty="0"/>
              <a:t>Toolkit open-</a:t>
            </a:r>
            <a:r>
              <a:rPr lang="pt-BR" dirty="0" err="1"/>
              <a:t>source</a:t>
            </a:r>
            <a:r>
              <a:rPr lang="pt-BR" dirty="0"/>
              <a:t>;</a:t>
            </a:r>
          </a:p>
          <a:p>
            <a:pPr lvl="1" fontAlgn="base"/>
            <a:r>
              <a:rPr lang="en-US" dirty="0"/>
              <a:t>Fast Artificial Neural Network (FANN);</a:t>
            </a:r>
            <a:endParaRPr lang="pt-BR" dirty="0"/>
          </a:p>
          <a:p>
            <a:pPr lvl="1" fontAlgn="base"/>
            <a:r>
              <a:rPr lang="pt-BR" dirty="0"/>
              <a:t>Geração de código otimizado para </a:t>
            </a:r>
            <a:r>
              <a:rPr lang="pt-BR" dirty="0" err="1"/>
              <a:t>microcotroladores</a:t>
            </a:r>
            <a:r>
              <a:rPr lang="pt-BR" dirty="0"/>
              <a:t>.</a:t>
            </a: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nálise de eficiência energética entre diferentes núcleos;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nálise das acelerações paralelas e das degradações devido à sobrecarga de paralelização e transferências de memória.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Resultados experimentais.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418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ML aplicado em sistemas de IoT e dispositivos móveis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extrair informações de grandes volumes de dados sensoriais.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Redes neurais apresentam alta precisão em tarefas de classificação.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Limitação do modelo tradicional: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Atualmente, o processamento de ML ocorre principalmente na nuvem;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Dispositivos IoT enviam dados brutos ou pouco processados para processamento remoto.</a:t>
            </a:r>
          </a:p>
          <a:p>
            <a:pPr marL="0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25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Problema do modelo tradicional no contexto de IoT: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Sobrecarga da rede;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Maior consumo de energia na transmissão;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Latência;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Questões de privacidade e confiabilidade.</a:t>
            </a:r>
          </a:p>
          <a:p>
            <a:pPr marL="0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888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Edge </a:t>
            </a:r>
            <a:r>
              <a:rPr lang="pt-BR" dirty="0" err="1"/>
              <a:t>Computing</a:t>
            </a:r>
            <a:r>
              <a:rPr lang="pt-BR" dirty="0"/>
              <a:t> como alternativa.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Desafios: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bordagens em computação em nuvem utiliza redes neurais </a:t>
            </a:r>
            <a:r>
              <a:rPr lang="pt-BR" b="0" i="0" dirty="0" err="1">
                <a:solidFill>
                  <a:srgbClr val="303030"/>
                </a:solidFill>
                <a:effectLst/>
                <a:latin typeface="Google Sans Text"/>
              </a:rPr>
              <a:t>convolucionais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 profundas;</a:t>
            </a:r>
            <a:endParaRPr lang="pt-BR" dirty="0"/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Energia (alimentação por bateria);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Memória;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Capacidade de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06449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Objetivo: Desenvolver um framework que permita executar redes neurais em microcontroladores de baixo consumo de forma eficiente.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É possível executar redes neurais eficientes em microcontroladores de </a:t>
            </a:r>
            <a:r>
              <a:rPr lang="pt-BR" dirty="0" err="1"/>
              <a:t>ultra-baixo</a:t>
            </a:r>
            <a:r>
              <a:rPr lang="pt-BR" dirty="0"/>
              <a:t> consumo, desde que: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os algoritmos sejam leves (MLP);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o software seja otimizado para a arquitetura do hardware;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sejam exploradas técnicas de paralelismo e otimização de memória.</a:t>
            </a:r>
          </a:p>
        </p:txBody>
      </p:sp>
    </p:spTree>
    <p:extLst>
      <p:ext uri="{BB962C8B-B14F-4D97-AF65-F5344CB8AC3E}">
        <p14:creationId xmlns:p14="http://schemas.microsoft.com/office/powerpoint/2010/main" val="207915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Autofit/>
          </a:bodyPr>
          <a:lstStyle/>
          <a:p>
            <a:pPr fontAlgn="base"/>
            <a:r>
              <a:rPr lang="pt-BR" sz="1800" dirty="0"/>
              <a:t>Contribuições:</a:t>
            </a:r>
          </a:p>
          <a:p>
            <a:pPr fontAlgn="base"/>
            <a:endParaRPr lang="pt-BR" sz="1800" dirty="0"/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FANN-</a:t>
            </a:r>
            <a:r>
              <a:rPr lang="pt-BR" sz="1800" i="0" dirty="0" err="1">
                <a:solidFill>
                  <a:srgbClr val="303030"/>
                </a:solidFill>
                <a:effectLst/>
                <a:latin typeface="Google Sans Text"/>
              </a:rPr>
              <a:t>on</a:t>
            </a:r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-MCU para processadores ARM e RISC-V;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Comparações de desempenho e uso de memória;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Otimizações para diferentes tamanhos de rede e hierarquias de memória;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Análise detalhada de ganhos e perdas por paralelização;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Implementação em cenários reais, como reconhecimento de gestos, detecção de quedas e classificação de atividades humanas;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Resultados experimentais com medições de campo;</a:t>
            </a:r>
          </a:p>
          <a:p>
            <a:pPr lvl="1" fontAlgn="base"/>
            <a:endParaRPr lang="pt-BR" sz="1800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sz="1800" i="0" dirty="0">
                <a:solidFill>
                  <a:srgbClr val="303030"/>
                </a:solidFill>
                <a:effectLst/>
                <a:latin typeface="Google Sans Text"/>
              </a:rPr>
              <a:t>Lançamento do kit de ferramentas como software de código aberto.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- </a:t>
            </a:r>
            <a:r>
              <a:rPr lang="pt-BR" dirty="0" err="1"/>
              <a:t>Multilayer</a:t>
            </a:r>
            <a:r>
              <a:rPr lang="pt-BR" dirty="0"/>
              <a:t> </a:t>
            </a:r>
            <a:r>
              <a:rPr lang="pt-BR" dirty="0" err="1"/>
              <a:t>Perceptron</a:t>
            </a:r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82ADA0-FE8E-DA5E-7F0F-652B0C78D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880" y="1507808"/>
            <a:ext cx="6344239" cy="25571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958E0C-555F-3AE3-59A7-71388527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137" y="4380808"/>
            <a:ext cx="5331726" cy="140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FANN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11" y="1061185"/>
            <a:ext cx="11057313" cy="4351338"/>
          </a:xfrm>
        </p:spPr>
        <p:txBody>
          <a:bodyPr>
            <a:noAutofit/>
          </a:bodyPr>
          <a:lstStyle/>
          <a:p>
            <a:pPr fontAlgn="base"/>
            <a:r>
              <a:rPr lang="pt-BR" sz="1800" dirty="0"/>
              <a:t>Framework leve para redes neurais MLP, voltado para treinamento e inferência de redes neurais artificiais.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Implementado em linguagem C e suporte a múltiplas linguagens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Ferramentas de ajuste automático de </a:t>
            </a:r>
            <a:r>
              <a:rPr lang="pt-BR" sz="1800" dirty="0" err="1"/>
              <a:t>hiperparâmetros</a:t>
            </a:r>
            <a:r>
              <a:rPr lang="pt-BR" sz="1800" dirty="0"/>
              <a:t>, auxiliando na escolha da melhor configuração da rede neural.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Suporte a inferência em ponto fixo (</a:t>
            </a:r>
            <a:r>
              <a:rPr lang="pt-BR" sz="1800" dirty="0" err="1"/>
              <a:t>fixed</a:t>
            </a:r>
            <a:r>
              <a:rPr lang="pt-BR" sz="1800" dirty="0"/>
              <a:t>-point), permitindo execução eficiente em microcontroladores de baixo consumo.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Treinamento em cascata (</a:t>
            </a:r>
            <a:r>
              <a:rPr lang="pt-BR" sz="1800" dirty="0" err="1"/>
              <a:t>cascade</a:t>
            </a:r>
            <a:r>
              <a:rPr lang="pt-BR" sz="1800" dirty="0"/>
              <a:t> training), que adiciona neurônios automaticamente durante o treinamento para otimizar a arquitetura da rede.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Formato simples de arquivos para armazenamento de </a:t>
            </a:r>
            <a:r>
              <a:rPr lang="pt-BR" sz="1800" dirty="0" err="1"/>
              <a:t>datasets</a:t>
            </a:r>
            <a:r>
              <a:rPr lang="pt-BR" sz="1800" dirty="0"/>
              <a:t> e modelos de redes neurais treinadas.</a:t>
            </a:r>
          </a:p>
          <a:p>
            <a:pPr fontAlgn="base"/>
            <a:endParaRPr lang="pt-BR" sz="1800" dirty="0"/>
          </a:p>
          <a:p>
            <a:pPr fontAlgn="base"/>
            <a:r>
              <a:rPr lang="pt-BR" sz="1800" dirty="0"/>
              <a:t>Interface gráfica </a:t>
            </a:r>
            <a:r>
              <a:rPr lang="pt-BR" sz="1800" dirty="0" err="1"/>
              <a:t>FANNTool</a:t>
            </a:r>
            <a:endParaRPr lang="pt-BR" sz="1800" dirty="0">
              <a:solidFill>
                <a:srgbClr val="303030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02761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Frameworks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11" y="1061185"/>
            <a:ext cx="11057313" cy="4351338"/>
          </a:xfrm>
        </p:spPr>
        <p:txBody>
          <a:bodyPr>
            <a:noAutofit/>
          </a:bodyPr>
          <a:lstStyle/>
          <a:p>
            <a:pPr fontAlgn="base"/>
            <a:r>
              <a:rPr lang="pt-BR" sz="2000" dirty="0"/>
              <a:t>STM32Cube.AI</a:t>
            </a:r>
          </a:p>
          <a:p>
            <a:pPr marL="0" indent="0" fontAlgn="base">
              <a:buNone/>
            </a:pPr>
            <a:endParaRPr lang="pt-BR" sz="2000" dirty="0"/>
          </a:p>
          <a:p>
            <a:pPr lvl="1" fontAlgn="base"/>
            <a:r>
              <a:rPr lang="pt-BR" sz="2000" dirty="0"/>
              <a:t>Ferramenta da </a:t>
            </a:r>
            <a:r>
              <a:rPr lang="pt-BR" sz="2000" dirty="0" err="1"/>
              <a:t>STMicroelectronics</a:t>
            </a:r>
            <a:r>
              <a:rPr lang="pt-BR" sz="2000" dirty="0"/>
              <a:t> para implantação de redes neurais em microcontroladores STM32.</a:t>
            </a:r>
          </a:p>
          <a:p>
            <a:pPr lvl="1" fontAlgn="base"/>
            <a:r>
              <a:rPr lang="pt-BR" sz="2000" dirty="0"/>
              <a:t>Permite importar modelos treinados em frameworks como </a:t>
            </a:r>
            <a:r>
              <a:rPr lang="pt-BR" sz="2000" dirty="0" err="1"/>
              <a:t>Keras</a:t>
            </a:r>
            <a:r>
              <a:rPr lang="pt-BR" sz="2000" dirty="0"/>
              <a:t> e </a:t>
            </a:r>
            <a:r>
              <a:rPr lang="pt-BR" sz="2000" dirty="0" err="1"/>
              <a:t>TensorFlow</a:t>
            </a:r>
            <a:r>
              <a:rPr lang="pt-BR" sz="2000" dirty="0"/>
              <a:t> Lite.</a:t>
            </a:r>
          </a:p>
          <a:p>
            <a:pPr lvl="1" fontAlgn="base"/>
            <a:r>
              <a:rPr lang="pt-BR" sz="2000" dirty="0"/>
              <a:t>Geração automática de código C otimizado para execução em </a:t>
            </a:r>
            <a:r>
              <a:rPr lang="pt-BR" sz="2000" dirty="0" err="1"/>
              <a:t>MCUs</a:t>
            </a:r>
            <a:r>
              <a:rPr lang="pt-BR" sz="2000" dirty="0"/>
              <a:t> da série STM32.</a:t>
            </a:r>
          </a:p>
          <a:p>
            <a:pPr lvl="1" fontAlgn="base"/>
            <a:r>
              <a:rPr lang="pt-BR" sz="2000" dirty="0"/>
              <a:t>Suporte a modelos quantizados, reduzindo o tamanho do modelo e acelerando a inferência.</a:t>
            </a:r>
          </a:p>
          <a:p>
            <a:pPr lvl="1" fontAlgn="base"/>
            <a:r>
              <a:rPr lang="pt-BR" sz="2000" dirty="0"/>
              <a:t>Facilita a integração de IA embarcada em sistemas de baixo consumo energético.</a:t>
            </a:r>
          </a:p>
          <a:p>
            <a:pPr lvl="1" fontAlgn="base"/>
            <a:endParaRPr lang="pt-BR" sz="2000" dirty="0">
              <a:solidFill>
                <a:srgbClr val="303030"/>
              </a:solidFill>
            </a:endParaRPr>
          </a:p>
          <a:p>
            <a:pPr fontAlgn="base"/>
            <a:r>
              <a:rPr lang="pt-BR" sz="2000" dirty="0" err="1">
                <a:solidFill>
                  <a:srgbClr val="303030"/>
                </a:solidFill>
              </a:rPr>
              <a:t>TensorFlow</a:t>
            </a:r>
            <a:r>
              <a:rPr lang="pt-BR" sz="2000" dirty="0">
                <a:solidFill>
                  <a:srgbClr val="303030"/>
                </a:solidFill>
              </a:rPr>
              <a:t> Lite for </a:t>
            </a:r>
            <a:r>
              <a:rPr lang="pt-BR" sz="2000" dirty="0" err="1">
                <a:solidFill>
                  <a:srgbClr val="303030"/>
                </a:solidFill>
              </a:rPr>
              <a:t>Microcontrollers</a:t>
            </a:r>
            <a:endParaRPr lang="pt-BR" sz="2000" dirty="0">
              <a:solidFill>
                <a:srgbClr val="303030"/>
              </a:solidFill>
            </a:endParaRPr>
          </a:p>
          <a:p>
            <a:pPr fontAlgn="base"/>
            <a:endParaRPr lang="pt-BR" sz="2000" dirty="0">
              <a:solidFill>
                <a:srgbClr val="303030"/>
              </a:solidFill>
            </a:endParaRPr>
          </a:p>
          <a:p>
            <a:pPr lvl="1" fontAlgn="base"/>
            <a:r>
              <a:rPr lang="pt-BR" sz="2000" dirty="0">
                <a:solidFill>
                  <a:srgbClr val="303030"/>
                </a:solidFill>
              </a:rPr>
              <a:t>Framework independente de fabricante, suportando plataformas ARM </a:t>
            </a:r>
            <a:r>
              <a:rPr lang="pt-BR" sz="2000" dirty="0" err="1">
                <a:solidFill>
                  <a:srgbClr val="303030"/>
                </a:solidFill>
              </a:rPr>
              <a:t>Cortex</a:t>
            </a:r>
            <a:r>
              <a:rPr lang="pt-BR" sz="2000" dirty="0">
                <a:solidFill>
                  <a:srgbClr val="303030"/>
                </a:solidFill>
              </a:rPr>
              <a:t>-M e RISC-V.</a:t>
            </a:r>
          </a:p>
          <a:p>
            <a:pPr lvl="1" fontAlgn="base"/>
            <a:r>
              <a:rPr lang="pt-BR" sz="2000" dirty="0">
                <a:solidFill>
                  <a:srgbClr val="303030"/>
                </a:solidFill>
              </a:rPr>
              <a:t>Permite exportar modelos treinados no </a:t>
            </a:r>
            <a:r>
              <a:rPr lang="pt-BR" sz="2000" dirty="0" err="1">
                <a:solidFill>
                  <a:srgbClr val="303030"/>
                </a:solidFill>
              </a:rPr>
              <a:t>TensorFlow</a:t>
            </a:r>
            <a:r>
              <a:rPr lang="pt-BR" sz="2000" dirty="0">
                <a:solidFill>
                  <a:srgbClr val="303030"/>
                </a:solidFill>
              </a:rPr>
              <a:t> para execução em microcontroladores.</a:t>
            </a:r>
          </a:p>
          <a:p>
            <a:pPr lvl="1" fontAlgn="base"/>
            <a:r>
              <a:rPr lang="pt-BR" sz="2000" dirty="0" err="1">
                <a:solidFill>
                  <a:srgbClr val="303030"/>
                </a:solidFill>
              </a:rPr>
              <a:t>Runtime</a:t>
            </a:r>
            <a:r>
              <a:rPr lang="pt-BR" sz="2000" dirty="0">
                <a:solidFill>
                  <a:srgbClr val="303030"/>
                </a:solidFill>
              </a:rPr>
              <a:t> leve, ocupando cerca de 16 </a:t>
            </a:r>
            <a:r>
              <a:rPr lang="pt-BR" sz="2000" dirty="0" err="1">
                <a:solidFill>
                  <a:srgbClr val="303030"/>
                </a:solidFill>
              </a:rPr>
              <a:t>kB</a:t>
            </a:r>
            <a:r>
              <a:rPr lang="pt-BR" sz="2000" dirty="0">
                <a:solidFill>
                  <a:srgbClr val="303030"/>
                </a:solidFill>
              </a:rPr>
              <a:t> de memória em um Cortex-M3.</a:t>
            </a:r>
          </a:p>
        </p:txBody>
      </p:sp>
    </p:spTree>
    <p:extLst>
      <p:ext uri="{BB962C8B-B14F-4D97-AF65-F5344CB8AC3E}">
        <p14:creationId xmlns:p14="http://schemas.microsoft.com/office/powerpoint/2010/main" val="308037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11" y="1061185"/>
            <a:ext cx="11057313" cy="4351338"/>
          </a:xfrm>
        </p:spPr>
        <p:txBody>
          <a:bodyPr>
            <a:noAutofit/>
          </a:bodyPr>
          <a:lstStyle/>
          <a:p>
            <a:pPr fontAlgn="base"/>
            <a:r>
              <a:rPr lang="pt-BR" sz="2400" dirty="0"/>
              <a:t>CMSIS-NN</a:t>
            </a:r>
          </a:p>
          <a:p>
            <a:pPr marL="0" indent="0" fontAlgn="base">
              <a:buNone/>
            </a:pPr>
            <a:endParaRPr lang="pt-BR" sz="2400" dirty="0"/>
          </a:p>
          <a:p>
            <a:pPr lvl="1" fontAlgn="base"/>
            <a:r>
              <a:rPr lang="pt-BR" dirty="0"/>
              <a:t>Implementações altamente otimizadas de camadas comuns em redes neurais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Acelerações de até 4,6×</a:t>
            </a:r>
          </a:p>
          <a:p>
            <a:pPr marL="457200" lvl="1" indent="0" fontAlgn="base">
              <a:buNone/>
            </a:pPr>
            <a:endParaRPr lang="pt-BR" dirty="0">
              <a:solidFill>
                <a:srgbClr val="303030"/>
              </a:solidFill>
            </a:endParaRPr>
          </a:p>
          <a:p>
            <a:pPr fontAlgn="base"/>
            <a:r>
              <a:rPr lang="pt-BR" sz="2400" dirty="0" err="1"/>
              <a:t>FANNCortexM</a:t>
            </a:r>
            <a:endParaRPr lang="pt-BR" sz="2400" dirty="0">
              <a:solidFill>
                <a:srgbClr val="303030"/>
              </a:solidFill>
            </a:endParaRPr>
          </a:p>
          <a:p>
            <a:pPr fontAlgn="base"/>
            <a:endParaRPr lang="pt-BR" sz="2400" dirty="0">
              <a:solidFill>
                <a:srgbClr val="303030"/>
              </a:solidFill>
            </a:endParaRPr>
          </a:p>
          <a:p>
            <a:pPr lvl="1" fontAlgn="base"/>
            <a:r>
              <a:rPr lang="pt-BR" dirty="0">
                <a:solidFill>
                  <a:srgbClr val="303030"/>
                </a:solidFill>
              </a:rPr>
              <a:t>Treinar uma rede MLP utilizando a biblioteca Fast Artificial Neural Network Library (FANN)</a:t>
            </a:r>
          </a:p>
          <a:p>
            <a:pPr lvl="1" fontAlgn="base"/>
            <a:endParaRPr lang="pt-BR" dirty="0">
              <a:solidFill>
                <a:srgbClr val="303030"/>
              </a:solidFill>
            </a:endParaRPr>
          </a:p>
          <a:p>
            <a:pPr lvl="1" fontAlgn="base"/>
            <a:r>
              <a:rPr lang="pt-BR" dirty="0">
                <a:solidFill>
                  <a:srgbClr val="303030"/>
                </a:solidFill>
              </a:rPr>
              <a:t>Exportar automaticamente código executável para microcontroladores ARM </a:t>
            </a:r>
            <a:r>
              <a:rPr lang="pt-BR" dirty="0" err="1">
                <a:solidFill>
                  <a:srgbClr val="303030"/>
                </a:solidFill>
              </a:rPr>
              <a:t>Cortex</a:t>
            </a:r>
            <a:r>
              <a:rPr lang="pt-BR" dirty="0">
                <a:solidFill>
                  <a:srgbClr val="303030"/>
                </a:solidFill>
              </a:rPr>
              <a:t>-M</a:t>
            </a:r>
          </a:p>
        </p:txBody>
      </p:sp>
    </p:spTree>
    <p:extLst>
      <p:ext uri="{BB962C8B-B14F-4D97-AF65-F5344CB8AC3E}">
        <p14:creationId xmlns:p14="http://schemas.microsoft.com/office/powerpoint/2010/main" val="127159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ARM </a:t>
            </a:r>
            <a:r>
              <a:rPr lang="pt-BR" dirty="0" err="1"/>
              <a:t>Cortex</a:t>
            </a:r>
            <a:r>
              <a:rPr lang="pt-BR" dirty="0"/>
              <a:t>-M Family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7192"/>
            <a:ext cx="11057313" cy="5281952"/>
          </a:xfrm>
        </p:spPr>
        <p:txBody>
          <a:bodyPr>
            <a:normAutofit fontScale="47500" lnSpcReduction="20000"/>
          </a:bodyPr>
          <a:lstStyle/>
          <a:p>
            <a:pPr fontAlgn="base"/>
            <a:r>
              <a:rPr lang="pt-BR" sz="4400" dirty="0"/>
              <a:t>ARM </a:t>
            </a:r>
            <a:r>
              <a:rPr lang="pt-BR" sz="4400" dirty="0" err="1"/>
              <a:t>Cortex</a:t>
            </a:r>
            <a:r>
              <a:rPr lang="pt-BR" sz="4400" dirty="0"/>
              <a:t>-M (M0, M3, M4 e M7)</a:t>
            </a:r>
          </a:p>
          <a:p>
            <a:pPr fontAlgn="base"/>
            <a:endParaRPr lang="pt-BR" sz="4400" dirty="0">
              <a:solidFill>
                <a:srgbClr val="303030"/>
              </a:solidFill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Frequência de operação: 16MHz (M0) – 300 MHz (M7)</a:t>
            </a:r>
          </a:p>
          <a:p>
            <a:pPr lvl="1" fontAlgn="base"/>
            <a:endParaRPr lang="pt-BR" sz="4400" dirty="0">
              <a:solidFill>
                <a:srgbClr val="303030"/>
              </a:solidFill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SRAM </a:t>
            </a:r>
            <a:r>
              <a:rPr lang="pt-BR" sz="4400" dirty="0"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4400" dirty="0"/>
              <a:t>256–512 Kb</a:t>
            </a:r>
          </a:p>
          <a:p>
            <a:pPr fontAlgn="base"/>
            <a:endParaRPr lang="pt-BR" sz="4400" dirty="0">
              <a:solidFill>
                <a:srgbClr val="303030"/>
              </a:solidFill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Flash </a:t>
            </a:r>
            <a:r>
              <a:rPr lang="pt-BR" sz="4400" dirty="0">
                <a:ea typeface="Calibri" panose="020F0502020204030204" pitchFamily="34" charset="0"/>
                <a:cs typeface="Calibri" panose="020F0502020204030204" pitchFamily="34" charset="0"/>
              </a:rPr>
              <a:t>→ 1 – 2 MB</a:t>
            </a:r>
          </a:p>
          <a:p>
            <a:pPr fontAlgn="base"/>
            <a:endParaRPr lang="pt-BR" sz="4400" dirty="0">
              <a:solidFill>
                <a:srgbClr val="30303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Maioria não possui unidade de ponto flutuante</a:t>
            </a:r>
          </a:p>
          <a:p>
            <a:pPr fontAlgn="base"/>
            <a:endParaRPr lang="pt-BR" sz="4400" dirty="0">
              <a:solidFill>
                <a:srgbClr val="303030"/>
              </a:solidFill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Instruções de DSP integradas </a:t>
            </a:r>
            <a:r>
              <a:rPr lang="pt-BR" sz="4400" dirty="0"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4400" dirty="0">
                <a:solidFill>
                  <a:srgbClr val="303030"/>
                </a:solidFill>
              </a:rPr>
              <a:t>M3, M4 e M7</a:t>
            </a:r>
          </a:p>
          <a:p>
            <a:pPr fontAlgn="base"/>
            <a:endParaRPr lang="pt-BR" sz="4400" dirty="0">
              <a:solidFill>
                <a:srgbClr val="303030"/>
              </a:solidFill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</a:rPr>
              <a:t>Single </a:t>
            </a:r>
            <a:r>
              <a:rPr lang="pt-BR" sz="4400" dirty="0" err="1">
                <a:solidFill>
                  <a:srgbClr val="303030"/>
                </a:solidFill>
              </a:rPr>
              <a:t>Instruction</a:t>
            </a:r>
            <a:r>
              <a:rPr lang="pt-BR" sz="4400" dirty="0">
                <a:solidFill>
                  <a:srgbClr val="303030"/>
                </a:solidFill>
              </a:rPr>
              <a:t> </a:t>
            </a:r>
            <a:r>
              <a:rPr lang="pt-BR" sz="4400" dirty="0" err="1">
                <a:solidFill>
                  <a:srgbClr val="303030"/>
                </a:solidFill>
              </a:rPr>
              <a:t>Multiple</a:t>
            </a:r>
            <a:r>
              <a:rPr lang="pt-BR" sz="4400" dirty="0">
                <a:solidFill>
                  <a:srgbClr val="303030"/>
                </a:solidFill>
              </a:rPr>
              <a:t> Data (SIMD) e </a:t>
            </a:r>
            <a:r>
              <a:rPr lang="pt-BR" sz="4400" dirty="0" err="1">
                <a:solidFill>
                  <a:srgbClr val="303030"/>
                </a:solidFill>
              </a:rPr>
              <a:t>Multiply</a:t>
            </a:r>
            <a:r>
              <a:rPr lang="pt-BR" sz="4400" dirty="0">
                <a:solidFill>
                  <a:srgbClr val="303030"/>
                </a:solidFill>
              </a:rPr>
              <a:t> – </a:t>
            </a:r>
            <a:r>
              <a:rPr lang="pt-BR" sz="4400" dirty="0" err="1">
                <a:solidFill>
                  <a:srgbClr val="303030"/>
                </a:solidFill>
              </a:rPr>
              <a:t>and</a:t>
            </a:r>
            <a:r>
              <a:rPr lang="pt-BR" sz="4400" dirty="0">
                <a:solidFill>
                  <a:srgbClr val="303030"/>
                </a:solidFill>
              </a:rPr>
              <a:t> – </a:t>
            </a:r>
            <a:r>
              <a:rPr lang="pt-BR" sz="4400" dirty="0" err="1">
                <a:solidFill>
                  <a:srgbClr val="303030"/>
                </a:solidFill>
              </a:rPr>
              <a:t>Accumulate</a:t>
            </a:r>
            <a:r>
              <a:rPr lang="pt-BR" sz="4400" dirty="0">
                <a:solidFill>
                  <a:srgbClr val="303030"/>
                </a:solidFill>
              </a:rPr>
              <a:t> (MAC) </a:t>
            </a:r>
            <a:r>
              <a:rPr lang="pt-BR" sz="4400" dirty="0">
                <a:ea typeface="Calibri" panose="020F0502020204030204" pitchFamily="34" charset="0"/>
                <a:cs typeface="Calibri" panose="020F0502020204030204" pitchFamily="34" charset="0"/>
              </a:rPr>
              <a:t>→ M4 e M7</a:t>
            </a:r>
          </a:p>
          <a:p>
            <a:pPr marL="0" indent="0" fontAlgn="base">
              <a:buNone/>
            </a:pPr>
            <a:endParaRPr lang="pt-BR" sz="4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sz="4400" dirty="0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CMSIS: </a:t>
            </a:r>
            <a:r>
              <a:rPr lang="pt-BR" sz="4400" dirty="0" err="1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arm_dot_prod</a:t>
            </a:r>
            <a:r>
              <a:rPr lang="pt-BR" sz="4400" dirty="0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4400" dirty="0" err="1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arm_fill</a:t>
            </a:r>
            <a:r>
              <a:rPr lang="pt-BR" sz="4400" dirty="0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4400" dirty="0" err="1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arm_copy</a:t>
            </a:r>
            <a:r>
              <a:rPr lang="pt-BR" sz="4400" dirty="0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4400" dirty="0">
                <a:ea typeface="Calibri" panose="020F0502020204030204" pitchFamily="34" charset="0"/>
                <a:cs typeface="Calibri" panose="020F0502020204030204" pitchFamily="34" charset="0"/>
              </a:rPr>
              <a:t>→ até 30% melhoria </a:t>
            </a:r>
            <a:r>
              <a:rPr lang="pt-BR" sz="4400" dirty="0">
                <a:solidFill>
                  <a:srgbClr val="30303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  <a:endParaRPr lang="pt-BR" sz="4400" dirty="0">
              <a:solidFill>
                <a:srgbClr val="303030"/>
              </a:solidFill>
            </a:endParaRP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marL="0" indent="0" fontAlgn="base">
              <a:buNone/>
            </a:pPr>
            <a:endParaRPr lang="pt-BR" dirty="0">
              <a:solidFill>
                <a:srgbClr val="303030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49438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7192"/>
            <a:ext cx="11057313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 err="1">
                <a:solidFill>
                  <a:srgbClr val="303030"/>
                </a:solidFill>
                <a:latin typeface="Google Sans Text"/>
              </a:rPr>
              <a:t>Parallel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Ultra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Low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Power (PULP)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Plataforma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multicore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open-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source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baseada em RISC-V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dirty="0" err="1">
                <a:solidFill>
                  <a:srgbClr val="303030"/>
                </a:solidFill>
                <a:latin typeface="Google Sans Text"/>
              </a:rPr>
              <a:t>Fabric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Controller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+ Cluster múltiplos cores + memória hierárquica + DMA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Projetada para alta eficiência energética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Processador Mr. Wolf</a:t>
            </a:r>
          </a:p>
          <a:p>
            <a:pPr marL="0" indent="0" fontAlgn="base">
              <a:buNone/>
            </a:pPr>
            <a:endParaRPr lang="pt-BR" dirty="0">
              <a:solidFill>
                <a:srgbClr val="303030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712027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DC9EF6-EA34-1B7F-239C-357BC7F7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06" y="1325563"/>
            <a:ext cx="6423587" cy="49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81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EA0F912-1741-0EB8-65C4-5AE8B93FC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175567"/>
            <a:ext cx="1120296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</a:t>
            </a:r>
            <a:r>
              <a:rPr lang="pt-BR" dirty="0" err="1"/>
              <a:t>InfiniWolf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FCED25-218D-65A0-59EA-C3584F82E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45" y="1109339"/>
            <a:ext cx="6487430" cy="463932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583AA37-5CDC-9253-5E09-2D53AFD0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720" y="2198425"/>
            <a:ext cx="4316842" cy="24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48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78E091-BB68-3B5A-659D-0EADBE12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6"/>
          <a:stretch/>
        </p:blipFill>
        <p:spPr>
          <a:xfrm>
            <a:off x="94211" y="1850564"/>
            <a:ext cx="12003577" cy="34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8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FANN-</a:t>
            </a:r>
            <a:r>
              <a:rPr lang="pt-BR" dirty="0" err="1"/>
              <a:t>on</a:t>
            </a:r>
            <a:r>
              <a:rPr lang="pt-BR" dirty="0"/>
              <a:t>-MCU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23921CB-E2A6-1444-1567-1BAF6E2B3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415206"/>
          </a:xfrm>
        </p:spPr>
        <p:txBody>
          <a:bodyPr>
            <a:normAutofit/>
          </a:bodyPr>
          <a:lstStyle/>
          <a:p>
            <a:r>
              <a:rPr lang="pt-BR" sz="2400" dirty="0"/>
              <a:t>Script de conversão</a:t>
            </a:r>
          </a:p>
          <a:p>
            <a:pPr lvl="1"/>
            <a:r>
              <a:rPr lang="pt-BR" dirty="0"/>
              <a:t>Ferramenta que lê a rede neural treinada usando a biblioteca Fast Artificial Neural Network Library.</a:t>
            </a:r>
          </a:p>
          <a:p>
            <a:pPr lvl="1"/>
            <a:r>
              <a:rPr lang="pt-BR" dirty="0"/>
              <a:t>Converte o modelo treinado em arquivos de código C.</a:t>
            </a:r>
          </a:p>
          <a:p>
            <a:pPr lvl="1"/>
            <a:r>
              <a:rPr lang="pt-BR" dirty="0"/>
              <a:t>Analisa características da rede como:</a:t>
            </a:r>
          </a:p>
          <a:p>
            <a:pPr marL="1200150" lvl="2" indent="-285750"/>
            <a:r>
              <a:rPr lang="pt-BR" sz="2400" dirty="0"/>
              <a:t>número de neurônios</a:t>
            </a:r>
          </a:p>
          <a:p>
            <a:pPr marL="1200150" lvl="2" indent="-285750"/>
            <a:r>
              <a:rPr lang="pt-BR" sz="2400" dirty="0"/>
              <a:t>número de pesos</a:t>
            </a:r>
          </a:p>
          <a:p>
            <a:pPr marL="1200150" lvl="2" indent="-285750"/>
            <a:r>
              <a:rPr lang="pt-BR" sz="2400" dirty="0"/>
              <a:t>número de camadas</a:t>
            </a:r>
          </a:p>
          <a:p>
            <a:pPr lvl="1"/>
            <a:r>
              <a:rPr lang="pt-BR" dirty="0"/>
              <a:t>Pode converter a rede para ponto fixo ou ponto flutuante.</a:t>
            </a:r>
          </a:p>
          <a:p>
            <a:pPr lvl="1"/>
            <a:endParaRPr lang="pt-BR" dirty="0"/>
          </a:p>
          <a:p>
            <a:r>
              <a:rPr lang="pt-BR" sz="2400" dirty="0"/>
              <a:t>Rotinas de execução da rede neural adaptadas para microcontroladores</a:t>
            </a:r>
          </a:p>
          <a:p>
            <a:pPr lvl="1"/>
            <a:r>
              <a:rPr lang="pt-BR" dirty="0" err="1"/>
              <a:t>fann_run</a:t>
            </a:r>
            <a:r>
              <a:rPr lang="pt-BR" dirty="0"/>
              <a:t>()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/>
              <a:t>Análise do código do </a:t>
            </a:r>
            <a:r>
              <a:rPr lang="pt-BR" dirty="0" err="1"/>
              <a:t>FANNCortexM</a:t>
            </a:r>
            <a:r>
              <a:rPr lang="pt-BR" dirty="0"/>
              <a:t>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Identificar gargalos de desempenho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Implementação do FANN-</a:t>
            </a:r>
            <a:r>
              <a:rPr lang="pt-BR" dirty="0" err="1"/>
              <a:t>on</a:t>
            </a:r>
            <a:r>
              <a:rPr lang="pt-BR" dirty="0"/>
              <a:t>-MCU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de desempenho considerando uma rede fixa: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Cinco entradas</a:t>
            </a:r>
            <a:r>
              <a:rPr lang="pt-BR" dirty="0"/>
              <a:t> </a:t>
            </a:r>
          </a:p>
          <a:p>
            <a:pPr lvl="1" fontAlgn="base"/>
            <a:r>
              <a:rPr lang="pt-BR" dirty="0"/>
              <a:t>Duas camadas ocultas com 100 neurônios cada</a:t>
            </a:r>
          </a:p>
          <a:p>
            <a:pPr lvl="1" fontAlgn="base"/>
            <a:r>
              <a:rPr lang="pt-BR" dirty="0"/>
              <a:t>Três classes de saída</a:t>
            </a:r>
          </a:p>
          <a:p>
            <a:pPr lvl="1" fontAlgn="base"/>
            <a:r>
              <a:rPr lang="pt-BR" dirty="0"/>
              <a:t>Cada neurônio seguido função tangente hiperbólica</a:t>
            </a:r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Realizado no </a:t>
            </a:r>
            <a:r>
              <a:rPr lang="pt-BR" dirty="0" err="1"/>
              <a:t>Cortex</a:t>
            </a:r>
            <a:r>
              <a:rPr lang="pt-BR" dirty="0"/>
              <a:t> M4 e no Mr. Wolf considerando ponto flutuante e fixo</a:t>
            </a:r>
          </a:p>
        </p:txBody>
      </p:sp>
    </p:spTree>
    <p:extLst>
      <p:ext uri="{BB962C8B-B14F-4D97-AF65-F5344CB8AC3E}">
        <p14:creationId xmlns:p14="http://schemas.microsoft.com/office/powerpoint/2010/main" val="361772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sz="2900" dirty="0"/>
              <a:t>Análise de desempenho considerando uma única camada e alterando o número de entradas e saídas</a:t>
            </a:r>
          </a:p>
          <a:p>
            <a:pPr marL="0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Análise de desempenho da rede completa considerando:</a:t>
            </a: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 entradas e 8 saídas</a:t>
            </a: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Alterando o número de camadas ocultas</a:t>
            </a: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número de neurônio em cada camada varia conforme:</a:t>
            </a:r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60E4BD-6FE9-FE49-33F8-64FB0FDC6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0" y="5084698"/>
            <a:ext cx="4498010" cy="6481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203235-F701-8E78-20B3-FA8F361F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35" y="4722990"/>
            <a:ext cx="518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34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B15F691-67D2-0AC0-0D51-B98F4A71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2" y="1325563"/>
            <a:ext cx="6791498" cy="5254692"/>
          </a:xfrm>
          <a:prstGeom prst="rect">
            <a:avLst/>
          </a:prstGeom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B27348A-93FF-69E9-0BE4-EB522C88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21" y="1546374"/>
            <a:ext cx="4688379" cy="4813069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Cortex-M4: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Melhoria de 3.1% no floating-point e 7.7% no </a:t>
            </a:r>
            <a:r>
              <a:rPr lang="pt-BR" dirty="0" err="1"/>
              <a:t>fixed</a:t>
            </a:r>
            <a:r>
              <a:rPr lang="pt-BR" dirty="0"/>
              <a:t>-point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 err="1"/>
              <a:t>fixed</a:t>
            </a:r>
            <a:r>
              <a:rPr lang="pt-BR" dirty="0"/>
              <a:t>-point ≈ 15% mais rápida (7/8 &gt; número de instruções)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matrizes de pesos = 88% do tempo total de computação (melhor caso)</a:t>
            </a:r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AA247AF-3C10-E0B1-45C0-AFA4FD5FA43A}"/>
              </a:ext>
            </a:extLst>
          </p:cNvPr>
          <p:cNvSpPr txBox="1"/>
          <p:nvPr/>
        </p:nvSpPr>
        <p:spPr>
          <a:xfrm>
            <a:off x="3948545" y="2518756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95%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0AA6EA-2BFF-4AA4-FAD5-482652DF7300}"/>
              </a:ext>
            </a:extLst>
          </p:cNvPr>
          <p:cNvSpPr txBox="1"/>
          <p:nvPr/>
        </p:nvSpPr>
        <p:spPr>
          <a:xfrm>
            <a:off x="3203170" y="1814946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89%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8F1E9E7-4EFC-141F-8C0A-23D2D186CC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B15F691-67D2-0AC0-0D51-B98F4A71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07" y="1325563"/>
            <a:ext cx="6791498" cy="5254692"/>
          </a:xfrm>
          <a:prstGeom prst="rect">
            <a:avLst/>
          </a:prstGeom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B27348A-93FF-69E9-0BE4-EB522C88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5076" y="1546374"/>
            <a:ext cx="4688379" cy="4813069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/>
              <a:t>RI5CY (single core) versus Cortex-M4:</a:t>
            </a:r>
          </a:p>
          <a:p>
            <a:pPr lvl="1" fontAlgn="base"/>
            <a:r>
              <a:rPr lang="pt-BR" dirty="0"/>
              <a:t>1.3× mais rápido (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1.4× mais rápido (</a:t>
            </a:r>
            <a:r>
              <a:rPr lang="pt-BR" dirty="0" err="1"/>
              <a:t>fixed</a:t>
            </a:r>
            <a:r>
              <a:rPr lang="pt-BR" dirty="0"/>
              <a:t>)</a:t>
            </a: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Paralelização = até 6× de </a:t>
            </a:r>
            <a:r>
              <a:rPr lang="pt-BR" dirty="0" err="1"/>
              <a:t>speedup</a:t>
            </a:r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>
                <a:solidFill>
                  <a:srgbClr val="FF0000"/>
                </a:solidFill>
              </a:rPr>
              <a:t>Ativação passa a representar uma fração maior do </a:t>
            </a:r>
            <a:r>
              <a:rPr lang="pt-BR" dirty="0" err="1">
                <a:solidFill>
                  <a:srgbClr val="FF0000"/>
                </a:solidFill>
              </a:rPr>
              <a:t>runtime</a:t>
            </a:r>
            <a:endParaRPr lang="pt-BR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7A4BC5B-64A3-BB1D-C08A-8F19A87E688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2827362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Análise de desempenho de uma única camada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Cálculo das matrizes de pesos sem considerar as funções de ativação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STM32L475VG com ARM Cortex-M4, utilizando implementação em ponto fixo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Núcleo IBEX utilizando o conjunto básico de instruções RV32IM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Tempo de execução em número de ciclos de uma única camada ao variar o número de entradas e o número de saídas da camada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2527822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088DDCE-D85B-47DA-48D6-F1B6A1A2F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3" y="143326"/>
            <a:ext cx="11778393" cy="6714674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94BEA342-8272-5659-B659-0613EA474AE5}"/>
              </a:ext>
            </a:extLst>
          </p:cNvPr>
          <p:cNvCxnSpPr/>
          <p:nvPr/>
        </p:nvCxnSpPr>
        <p:spPr>
          <a:xfrm flipH="1">
            <a:off x="1547446" y="2508738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C0DDA-02DF-937E-FB17-0D5A9416B736}"/>
              </a:ext>
            </a:extLst>
          </p:cNvPr>
          <p:cNvSpPr txBox="1"/>
          <p:nvPr/>
        </p:nvSpPr>
        <p:spPr>
          <a:xfrm>
            <a:off x="3474242" y="2139406"/>
            <a:ext cx="159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RAM + FLASH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B50CEA8-CCF3-2484-A401-5B3AFB8C0CC3}"/>
              </a:ext>
            </a:extLst>
          </p:cNvPr>
          <p:cNvCxnSpPr/>
          <p:nvPr/>
        </p:nvCxnSpPr>
        <p:spPr>
          <a:xfrm flipH="1">
            <a:off x="7373818" y="2930769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9F041E-95C6-8508-16CA-5B55094DABF4}"/>
              </a:ext>
            </a:extLst>
          </p:cNvPr>
          <p:cNvSpPr txBox="1"/>
          <p:nvPr/>
        </p:nvSpPr>
        <p:spPr>
          <a:xfrm>
            <a:off x="9384780" y="2508738"/>
            <a:ext cx="2180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L2 DEDIDACA + L2 COMPARTILHADA</a:t>
            </a:r>
          </a:p>
        </p:txBody>
      </p:sp>
    </p:spTree>
    <p:extLst>
      <p:ext uri="{BB962C8B-B14F-4D97-AF65-F5344CB8AC3E}">
        <p14:creationId xmlns:p14="http://schemas.microsoft.com/office/powerpoint/2010/main" val="344347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5538D94-D43C-F3E0-A496-24537B075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65" y="0"/>
            <a:ext cx="11576070" cy="6858000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94BEA342-8272-5659-B659-0613EA474AE5}"/>
              </a:ext>
            </a:extLst>
          </p:cNvPr>
          <p:cNvCxnSpPr/>
          <p:nvPr/>
        </p:nvCxnSpPr>
        <p:spPr>
          <a:xfrm flipH="1">
            <a:off x="1547446" y="2508738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C0DDA-02DF-937E-FB17-0D5A9416B736}"/>
              </a:ext>
            </a:extLst>
          </p:cNvPr>
          <p:cNvSpPr txBox="1"/>
          <p:nvPr/>
        </p:nvSpPr>
        <p:spPr>
          <a:xfrm>
            <a:off x="3090150" y="2221468"/>
            <a:ext cx="159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44976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2,2× de aceleração utilizando um único núcleo RI5CY em relação ao IBEX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Adição de extensões personalizadas ao conjunto de instruções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Double-</a:t>
            </a:r>
            <a:r>
              <a:rPr lang="pt-BR" dirty="0" err="1"/>
              <a:t>buffering</a:t>
            </a:r>
            <a:r>
              <a:rPr lang="pt-BR" dirty="0"/>
              <a:t> + DMA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Entradas maiores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maiores ganhos 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Overhead DMA desprezível frente ao tempo de computação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Execução paralela em relação à execução com um único núcleo RI5CY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7,7x </a:t>
            </a:r>
            <a:r>
              <a:rPr lang="pt-BR" dirty="0"/>
              <a:t>de aceleração </a:t>
            </a:r>
          </a:p>
          <a:p>
            <a:pPr lvl="1"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278591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02F567-7453-B253-BBD8-5FACF48E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77" y="0"/>
            <a:ext cx="11350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4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Single- RI5CY x Cortex-M4 = 2x de aceleração 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 err="1"/>
              <a:t>Multi</a:t>
            </a:r>
            <a:r>
              <a:rPr lang="pt-BR" dirty="0"/>
              <a:t> RI5CY x Cortex-M4 = 13,5x de aceleração 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053522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Desempenho de redes completas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Entrada e saída fixa </a:t>
            </a:r>
          </a:p>
          <a:p>
            <a:pPr lvl="1" fontAlgn="base"/>
            <a:r>
              <a:rPr lang="pt-BR" dirty="0"/>
              <a:t>Número de camadas ocultas variável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Definição do “d”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Testar pelo menos dois pontos de medição em cada região de memória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 err="1"/>
              <a:t>Layer-wise</a:t>
            </a:r>
            <a:r>
              <a:rPr lang="pt-BR" dirty="0"/>
              <a:t> e </a:t>
            </a:r>
            <a:r>
              <a:rPr lang="pt-BR" dirty="0" err="1"/>
              <a:t>Neuron-wise</a:t>
            </a:r>
            <a:endParaRPr lang="pt-BR" dirty="0"/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Maior eficiência energética possível com paralelização 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579652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702AC59-6C5E-B296-3E27-67644DD78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7275645" cy="5256413"/>
          </a:xfrm>
          <a:prstGeom prst="rect">
            <a:avLst/>
          </a:prstGeom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E52EB83-1557-C364-97CB-AC2973BB0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21" y="1546374"/>
            <a:ext cx="4688379" cy="4813069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Redes pequenas = pouco ganho 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Aumento perceptível com o uso de mais de uma região de memória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Pouco perceptível com a paralelização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Aumento perceptível na região </a:t>
            </a:r>
            <a:r>
              <a:rPr lang="pt-BR" dirty="0" err="1"/>
              <a:t>neuron-wise</a:t>
            </a:r>
            <a:endParaRPr lang="pt-BR" dirty="0"/>
          </a:p>
          <a:p>
            <a:pPr fontAlgn="base"/>
            <a:endParaRPr lang="pt-BR" dirty="0"/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68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54AA09-7388-502B-E255-E1787CDB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7144700" cy="5532437"/>
          </a:xfrm>
          <a:prstGeom prst="rect">
            <a:avLst/>
          </a:prstGeom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7AE7A10-3EE0-FD88-25DC-ADD389E2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21" y="1546374"/>
            <a:ext cx="4688379" cy="4813069"/>
          </a:xfrm>
        </p:spPr>
        <p:txBody>
          <a:bodyPr>
            <a:normAutofit/>
          </a:bodyPr>
          <a:lstStyle/>
          <a:p>
            <a:pPr fontAlgn="base"/>
            <a:r>
              <a:rPr lang="pt-BR" dirty="0" err="1"/>
              <a:t>Speedup</a:t>
            </a:r>
            <a:r>
              <a:rPr lang="pt-BR" dirty="0"/>
              <a:t> obtido com paralelização é menor em redes pequenas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Overhead da paralelização</a:t>
            </a:r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Ligeira perca de </a:t>
            </a:r>
            <a:r>
              <a:rPr lang="pt-BR" dirty="0" err="1"/>
              <a:t>Speedup</a:t>
            </a:r>
            <a:r>
              <a:rPr lang="pt-BR" dirty="0"/>
              <a:t> com a troca de região de memória</a:t>
            </a:r>
          </a:p>
          <a:p>
            <a:pPr fontAlgn="base"/>
            <a:endParaRPr lang="pt-BR" dirty="0"/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8290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C8C8BE-BC93-8459-795A-10CEC2DB1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2"/>
            <a:ext cx="7148105" cy="5532437"/>
          </a:xfrm>
          <a:prstGeom prst="rect">
            <a:avLst/>
          </a:prstGeom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96845873-48DD-4939-4BF4-DF143672E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21" y="1685245"/>
            <a:ext cx="4688379" cy="4813069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pt-BR" dirty="0"/>
              <a:t>IBEX ligeiramente mais lento que M4. Porém o desempenho se assemelha em quando M4 necessita da Flash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Um único núcleo RI5CY é quase duas vezes mais rápido que um núcleo Cortex-M4</a:t>
            </a:r>
          </a:p>
          <a:p>
            <a:pPr lvl="1" fontAlgn="base"/>
            <a:r>
              <a:rPr lang="pt-BR" sz="2800" dirty="0"/>
              <a:t>Extensões customizadas do conjunto de instruções (ISA) </a:t>
            </a:r>
          </a:p>
          <a:p>
            <a:pPr lvl="1" fontAlgn="base"/>
            <a:endParaRPr lang="pt-BR" sz="2800" dirty="0"/>
          </a:p>
          <a:p>
            <a:pPr fontAlgn="base"/>
            <a:r>
              <a:rPr lang="pt-BR" dirty="0"/>
              <a:t>O </a:t>
            </a:r>
            <a:r>
              <a:rPr lang="pt-BR" dirty="0" err="1"/>
              <a:t>speedup</a:t>
            </a:r>
            <a:r>
              <a:rPr lang="pt-BR" dirty="0"/>
              <a:t> paralelo aumenta de forma constante com o crescimento do tamanho da rede</a:t>
            </a:r>
          </a:p>
          <a:p>
            <a:pPr fontAlgn="base"/>
            <a:endParaRPr lang="pt-BR" dirty="0"/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0278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Reconhecimento de Gestos da Mão - Aplicação A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EMG de superfície e IMU de 9 eixos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Objetivo: reconhecer 10 gestos da mão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76 características no domínio do tempo 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 entrada para uma MLP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3 camadas ocultas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pt-BR" dirty="0"/>
              <a:t>300, 200 e 100 neurônios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10 classes de saída 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maior acurácia de classificação obtida foi de 85,58%.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826735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Detecção de Quedas em Idosos - Aplicação B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Sensores de pressão nas palmilhas dos calçados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Acelerômetros: cabeça, pelve e pernas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117 neurônios de entrada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20 neurônios na camada oculta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2 saídas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Acurácia obtida foi de 84%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F78E1C-19A8-6299-B1E1-DB54DDAD09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4147728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Classificação de Atividades Humanas - Aplicação C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Acelerômetro triaxial posicionado na cintura.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Cinco classes diferentes de saída 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7 características de entrada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1 camada oculta com 6 neurônios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Acurácia obtida foi de 94,6%</a:t>
            </a:r>
          </a:p>
          <a:p>
            <a:pPr lvl="1" fontAlgn="base"/>
            <a:endParaRPr lang="pt-BR" dirty="0"/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3288553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 err="1"/>
              <a:t>InfiniWolf</a:t>
            </a:r>
            <a:r>
              <a:rPr lang="pt-BR" sz="2400" dirty="0"/>
              <a:t> </a:t>
            </a:r>
          </a:p>
          <a:p>
            <a:pPr lvl="1" fontAlgn="base"/>
            <a:r>
              <a:rPr lang="pt-BR" dirty="0" err="1"/>
              <a:t>Nordic</a:t>
            </a:r>
            <a:r>
              <a:rPr lang="pt-BR" dirty="0"/>
              <a:t> nRF52832 com ARM Cortex-M4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PULP Mr. Wolf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nRF52832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64 MHz 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Mr. Wolf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100 MHz 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analisador de potência </a:t>
            </a:r>
            <a:r>
              <a:rPr lang="pt-BR" dirty="0" err="1"/>
              <a:t>Keysight</a:t>
            </a:r>
            <a:r>
              <a:rPr lang="pt-BR" dirty="0"/>
              <a:t> N6705C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0,1024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3124187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Desempenho </a:t>
            </a:r>
            <a:r>
              <a:rPr lang="pt-BR" dirty="0" err="1"/>
              <a:t>end-to-end</a:t>
            </a:r>
            <a:endParaRPr lang="pt-BR" dirty="0"/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Ativar o cluster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Copiar dados para a memória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Executar a rede neural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Desligar o cluster</a:t>
            </a:r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Overhead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13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4173654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D0F09C8-F062-BB87-2631-56200F91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18" y="1059556"/>
            <a:ext cx="7627163" cy="54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86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FF3941-E6C3-9AB9-5BAE-3C843EEA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1" y="1488444"/>
            <a:ext cx="11499273" cy="430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40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F1B0A-EC5C-0643-4FFB-31D4DA73A1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19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BFFBE0-C09F-35C8-4C50-EE106660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pt-BR" dirty="0"/>
              <a:t>Redes neurais muito pequenas podem não se beneficiar do paralelismo</a:t>
            </a:r>
          </a:p>
          <a:p>
            <a:endParaRPr lang="pt-BR" dirty="0"/>
          </a:p>
          <a:p>
            <a:r>
              <a:rPr lang="pt-BR" dirty="0"/>
              <a:t>Para aplicações com classificação contínua (típicas de IoT), a execução paralela torna-se claramente vantajosa</a:t>
            </a:r>
          </a:p>
          <a:p>
            <a:endParaRPr lang="pt-BR" dirty="0"/>
          </a:p>
          <a:p>
            <a:r>
              <a:rPr lang="pt-BR" dirty="0"/>
              <a:t>A arquitetura paralela baseada em cluster torna-se energeticamente mais eficiente após aproximadamente seis classificações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dirty="0"/>
              <a:t> Aplicação B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13 + 0,67 x N &lt; 2,86 x N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 = 6</a:t>
            </a:r>
          </a:p>
        </p:txBody>
      </p:sp>
    </p:spTree>
    <p:extLst>
      <p:ext uri="{BB962C8B-B14F-4D97-AF65-F5344CB8AC3E}">
        <p14:creationId xmlns:p14="http://schemas.microsoft.com/office/powerpoint/2010/main" val="1825596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Análise crítica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Pontos fortes: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Avaliação experimental robusta comparando diversos cenários e condições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Métodos claros e conclusivos </a:t>
            </a: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Limitações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Hardware de testes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Trabalho altamente correlacionado as características das plataformas testadas</a:t>
            </a:r>
          </a:p>
          <a:p>
            <a:pPr marL="457200" lvl="1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Análise crítica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Possíveis melhorias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Ensaio de consumo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Aplicações práticas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Sistemas embarcados em geral com processamento em borda</a:t>
            </a:r>
          </a:p>
        </p:txBody>
      </p:sp>
    </p:spTree>
    <p:extLst>
      <p:ext uri="{BB962C8B-B14F-4D97-AF65-F5344CB8AC3E}">
        <p14:creationId xmlns:p14="http://schemas.microsoft.com/office/powerpoint/2010/main" val="327676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972"/>
            <a:ext cx="10515600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Viabilidade de implementar IA em microcontroladores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Importância da otimização de hardware e paralelização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7,1× de aceleração em relação a uma implementação em um único núcleo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até 13,5× mais desempenho em comparação com um ARM Cortex-M4.</a:t>
            </a: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Importância da analise entre paralelização e consumo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972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Trabalhos futuros:</a:t>
            </a:r>
          </a:p>
          <a:p>
            <a:pPr fontAlgn="base"/>
            <a:endParaRPr lang="pt-BR" sz="2000" dirty="0"/>
          </a:p>
          <a:p>
            <a:pPr lvl="1" fontAlgn="base"/>
            <a:r>
              <a:rPr lang="pt-BR" dirty="0"/>
              <a:t>Realizar experimentos em outros microcontroladores além de ARM </a:t>
            </a:r>
            <a:r>
              <a:rPr lang="pt-BR" dirty="0" err="1"/>
              <a:t>Cortex</a:t>
            </a:r>
            <a:r>
              <a:rPr lang="pt-BR" dirty="0"/>
              <a:t>-M e da arquitetura PULP RISC-V </a:t>
            </a:r>
            <a:r>
              <a:rPr lang="pt-BR" dirty="0" err="1"/>
              <a:t>architecture</a:t>
            </a:r>
            <a:r>
              <a:rPr lang="pt-BR" dirty="0"/>
              <a:t>, incluindo novos processadores baseados em RISC-V e plataformas com aceleradores de IA</a:t>
            </a:r>
          </a:p>
          <a:p>
            <a:pPr lvl="2" fontAlgn="base"/>
            <a:endParaRPr lang="pt-BR" dirty="0"/>
          </a:p>
          <a:p>
            <a:pPr lvl="1" fontAlgn="base"/>
            <a:r>
              <a:rPr lang="pt-BR" dirty="0"/>
              <a:t>Investigar o impacto de diferentes quantidades de núcleos ativos e estratégias de paralelização, analisando o equilíbrio entre desempenho, consumo de energia e latência</a:t>
            </a: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4368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787"/>
            <a:ext cx="10515600" cy="4776426"/>
          </a:xfrm>
        </p:spPr>
        <p:txBody>
          <a:bodyPr>
            <a:noAutofit/>
          </a:bodyPr>
          <a:lstStyle/>
          <a:p>
            <a:pPr algn="l"/>
            <a:r>
              <a:rPr lang="en-US" sz="2000" b="0" i="0" u="none" strike="noStrike" baseline="0" dirty="0"/>
              <a:t>X. Wang, M. </a:t>
            </a:r>
            <a:r>
              <a:rPr lang="en-US" sz="2000" b="0" i="0" u="none" strike="noStrike" baseline="0" dirty="0" err="1"/>
              <a:t>Magno</a:t>
            </a:r>
            <a:r>
              <a:rPr lang="en-US" sz="2000" b="0" i="0" u="none" strike="noStrike" baseline="0" dirty="0"/>
              <a:t>, L. </a:t>
            </a:r>
            <a:r>
              <a:rPr lang="en-US" sz="2000" b="0" i="0" u="none" strike="noStrike" baseline="0" dirty="0" err="1"/>
              <a:t>Cavigelli</a:t>
            </a:r>
            <a:r>
              <a:rPr lang="en-US" sz="2000" b="0" i="0" u="none" strike="noStrike" baseline="0" dirty="0"/>
              <a:t> and L. </a:t>
            </a:r>
            <a:r>
              <a:rPr lang="en-US" sz="2000" b="0" i="0" u="none" strike="noStrike" baseline="0" dirty="0" err="1"/>
              <a:t>Benini</a:t>
            </a:r>
            <a:r>
              <a:rPr lang="en-US" sz="2000" b="0" i="0" u="none" strike="noStrike" baseline="0" dirty="0"/>
              <a:t>, "FANN-on-MCU: An Open-Source Toolkit for Energy-Efficient Neural Network Inference at </a:t>
            </a:r>
            <a:r>
              <a:rPr lang="en-US" sz="2000" dirty="0"/>
              <a:t>the Edge of the Internet of Things," in IEEE Internet of Things Journal, vol. 7, no. 5, pp. 4403-4417, May 2020, </a:t>
            </a:r>
            <a:r>
              <a:rPr lang="en-US" sz="2000" dirty="0" err="1"/>
              <a:t>doi</a:t>
            </a:r>
            <a:r>
              <a:rPr lang="en-US" sz="2000" dirty="0"/>
              <a:t>: 10.1109/JIOT.2020.2976702.</a:t>
            </a:r>
          </a:p>
          <a:p>
            <a:pPr algn="l"/>
            <a:endParaRPr lang="en-US" sz="2000" dirty="0"/>
          </a:p>
          <a:p>
            <a:pPr algn="l"/>
            <a:r>
              <a:rPr lang="pt-BR" sz="2000" dirty="0" err="1"/>
              <a:t>STMicroelectronics</a:t>
            </a:r>
            <a:r>
              <a:rPr lang="pt-BR" sz="2000" dirty="0"/>
              <a:t>. STM32Cube.AI. Disponível em: </a:t>
            </a:r>
            <a:r>
              <a:rPr lang="pt-BR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https://stm32ai.st.com/stm32-cube-ai/</a:t>
            </a:r>
            <a:r>
              <a:rPr lang="pt-BR" sz="2000" dirty="0"/>
              <a:t>. Acesso em: 16 mar. 2026.</a:t>
            </a:r>
            <a:endParaRPr lang="en-US" sz="2000" dirty="0"/>
          </a:p>
          <a:p>
            <a:pPr algn="l"/>
            <a:endParaRPr lang="pt-BR" sz="2000" dirty="0"/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ARM. CMSIS – Common </a:t>
            </a:r>
            <a:r>
              <a:rPr lang="pt-BR" sz="2000" dirty="0" err="1"/>
              <a:t>Microcontroller</a:t>
            </a:r>
            <a:r>
              <a:rPr lang="pt-BR" sz="2000" dirty="0"/>
              <a:t> Software Interface Standard. Disponível em: </a:t>
            </a:r>
            <a:r>
              <a:rPr lang="pt-B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https://www.arm.com/</a:t>
            </a:r>
            <a:r>
              <a:rPr lang="pt-BR" sz="20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technologies</a:t>
            </a:r>
            <a:r>
              <a:rPr lang="pt-B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20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cmsis</a:t>
            </a:r>
            <a:r>
              <a:rPr lang="pt-BR" sz="2000" dirty="0"/>
              <a:t>. Acesso em: 16 mar. 2026.</a:t>
            </a:r>
          </a:p>
          <a:p>
            <a:pPr algn="l"/>
            <a:endParaRPr lang="pt-BR" sz="2000" dirty="0"/>
          </a:p>
          <a:p>
            <a:pPr algn="l"/>
            <a:r>
              <a:rPr lang="pt-BR" sz="2000" dirty="0"/>
              <a:t>FANN-</a:t>
            </a:r>
            <a:r>
              <a:rPr lang="pt-BR" sz="2000" dirty="0" err="1"/>
              <a:t>on</a:t>
            </a:r>
            <a:r>
              <a:rPr lang="pt-BR" sz="2000" dirty="0"/>
              <a:t>-MCU. GitHub Disponível em: </a:t>
            </a:r>
            <a:r>
              <a:rPr lang="pt-BR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pt-BR" sz="20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pulp-platform</a:t>
            </a:r>
            <a:r>
              <a:rPr lang="pt-BR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20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fann-on-mcu</a:t>
            </a:r>
            <a:r>
              <a:rPr lang="pt-BR" sz="2000" dirty="0"/>
              <a:t>. Acesso em: 16 mar. 2026.</a:t>
            </a:r>
          </a:p>
        </p:txBody>
      </p:sp>
    </p:spTree>
    <p:extLst>
      <p:ext uri="{BB962C8B-B14F-4D97-AF65-F5344CB8AC3E}">
        <p14:creationId xmlns:p14="http://schemas.microsoft.com/office/powerpoint/2010/main" val="2059263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CD8527-D4C3-2195-BA29-72DB1FD392BA}"/>
              </a:ext>
            </a:extLst>
          </p:cNvPr>
          <p:cNvSpPr txBox="1">
            <a:spLocks/>
          </p:cNvSpPr>
          <p:nvPr/>
        </p:nvSpPr>
        <p:spPr>
          <a:xfrm>
            <a:off x="1431533" y="4267972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https://forms.gle/hNAmq6qdL2Z24e299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9898</TotalTime>
  <Words>1930</Words>
  <Application>Microsoft Office PowerPoint</Application>
  <PresentationFormat>Widescreen</PresentationFormat>
  <Paragraphs>468</Paragraphs>
  <Slides>48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Google Sans Text</vt:lpstr>
      <vt:lpstr>Tema do Office</vt:lpstr>
      <vt:lpstr>TP558 - Tópicos avançados em Machine Learning:  FANN-on-MCU: An Open-Source Toolkit for Energy-Efficient Neural Network Inference at the Edge of the Internet of Things</vt:lpstr>
      <vt:lpstr>Abertura </vt:lpstr>
      <vt:lpstr>Abertura </vt:lpstr>
      <vt:lpstr>Introdução</vt:lpstr>
      <vt:lpstr>Introdução</vt:lpstr>
      <vt:lpstr>Introdução</vt:lpstr>
      <vt:lpstr>Introdução</vt:lpstr>
      <vt:lpstr>Introdução</vt:lpstr>
      <vt:lpstr>Fundamentação teórica - Multilayer Perceptron </vt:lpstr>
      <vt:lpstr>Fundamentação teórica – FANN</vt:lpstr>
      <vt:lpstr>Fundamentação teórica – Frameworks</vt:lpstr>
      <vt:lpstr>Fundamentação teórica</vt:lpstr>
      <vt:lpstr>Fundamentação teórica – ARM Cortex-M Family</vt:lpstr>
      <vt:lpstr>Fundamentação teórica – PULP Processors </vt:lpstr>
      <vt:lpstr>Fundamentação teórica – PULP Processors </vt:lpstr>
      <vt:lpstr>Fundamentação teórica – PULP Processors </vt:lpstr>
      <vt:lpstr>Fundamentação teórica – InfiniWolf</vt:lpstr>
      <vt:lpstr>Fundamentação teórica </vt:lpstr>
      <vt:lpstr>FANN-on-MCU</vt:lpstr>
      <vt:lpstr>Metodologia</vt:lpstr>
      <vt:lpstr>Metodologia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Análise crítica do trabalho</vt:lpstr>
      <vt:lpstr>Análise crítica do trabalho</vt:lpstr>
      <vt:lpstr>Conclusão</vt:lpstr>
      <vt:lpstr>Conclusão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Gabriel Dias Scarpioni</cp:lastModifiedBy>
  <cp:revision>1757</cp:revision>
  <dcterms:created xsi:type="dcterms:W3CDTF">2020-01-20T13:50:05Z</dcterms:created>
  <dcterms:modified xsi:type="dcterms:W3CDTF">2026-03-17T00:22:05Z</dcterms:modified>
</cp:coreProperties>
</file>