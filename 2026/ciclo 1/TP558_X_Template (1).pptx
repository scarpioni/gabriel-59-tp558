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307" r:id="rId3"/>
    <p:sldId id="318" r:id="rId4"/>
    <p:sldId id="319" r:id="rId5"/>
    <p:sldId id="321" r:id="rId6"/>
    <p:sldId id="323" r:id="rId7"/>
    <p:sldId id="322" r:id="rId8"/>
    <p:sldId id="315" r:id="rId9"/>
    <p:sldId id="308" r:id="rId10"/>
    <p:sldId id="325" r:id="rId11"/>
    <p:sldId id="335" r:id="rId12"/>
    <p:sldId id="333" r:id="rId13"/>
    <p:sldId id="334" r:id="rId14"/>
    <p:sldId id="324" r:id="rId15"/>
    <p:sldId id="330" r:id="rId16"/>
    <p:sldId id="309" r:id="rId17"/>
    <p:sldId id="328" r:id="rId18"/>
    <p:sldId id="326" r:id="rId19"/>
    <p:sldId id="310" r:id="rId20"/>
    <p:sldId id="329" r:id="rId21"/>
    <p:sldId id="336" r:id="rId22"/>
    <p:sldId id="331" r:id="rId23"/>
    <p:sldId id="337" r:id="rId24"/>
    <p:sldId id="339" r:id="rId25"/>
    <p:sldId id="340" r:id="rId26"/>
    <p:sldId id="342" r:id="rId27"/>
    <p:sldId id="341" r:id="rId28"/>
    <p:sldId id="327" r:id="rId29"/>
    <p:sldId id="311" r:id="rId30"/>
    <p:sldId id="312" r:id="rId31"/>
    <p:sldId id="293" r:id="rId32"/>
    <p:sldId id="314" r:id="rId33"/>
    <p:sldId id="306" r:id="rId34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8" autoAdjust="0"/>
    <p:restoredTop sz="79540" autoAdjust="0"/>
  </p:normalViewPr>
  <p:slideViewPr>
    <p:cSldViewPr snapToGrid="0">
      <p:cViewPr varScale="1">
        <p:scale>
          <a:sx n="65" d="100"/>
          <a:sy n="65" d="100"/>
        </p:scale>
        <p:origin x="950" y="5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13/03/2026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56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1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980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225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5374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929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240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9290"/>
            <a:ext cx="9144000" cy="2690156"/>
          </a:xfrm>
        </p:spPr>
        <p:txBody>
          <a:bodyPr>
            <a:normAutofit fontScale="90000"/>
          </a:bodyPr>
          <a:lstStyle/>
          <a:p>
            <a:r>
              <a:rPr lang="pt-BR" sz="5400" dirty="0"/>
              <a:t>TP558 - Tópicos avançados em Machine Learning:</a:t>
            </a:r>
            <a:br>
              <a:rPr lang="pt-BR" sz="5400" dirty="0"/>
            </a:br>
            <a:br>
              <a:rPr lang="pt-BR" sz="3600" dirty="0"/>
            </a:br>
            <a:r>
              <a:rPr lang="pt-BR" sz="3600" b="1" i="1" dirty="0"/>
              <a:t>FANN-</a:t>
            </a:r>
            <a:r>
              <a:rPr lang="pt-BR" sz="3600" b="1" i="1" dirty="0" err="1"/>
              <a:t>on</a:t>
            </a:r>
            <a:r>
              <a:rPr lang="pt-BR" sz="3600" b="1" i="1" dirty="0"/>
              <a:t>-MCU: </a:t>
            </a:r>
            <a:r>
              <a:rPr lang="pt-BR" sz="3600" b="1" i="1" dirty="0" err="1"/>
              <a:t>An</a:t>
            </a:r>
            <a:r>
              <a:rPr lang="pt-BR" sz="3600" b="1" i="1" dirty="0"/>
              <a:t> Open-</a:t>
            </a:r>
            <a:r>
              <a:rPr lang="pt-BR" sz="3600" b="1" i="1" dirty="0" err="1"/>
              <a:t>Source</a:t>
            </a:r>
            <a:r>
              <a:rPr lang="pt-BR" sz="3600" b="1" i="1" dirty="0"/>
              <a:t> Toolkit for Energy-</a:t>
            </a:r>
            <a:r>
              <a:rPr lang="pt-BR" sz="3600" b="1" i="1" dirty="0" err="1"/>
              <a:t>Efficient</a:t>
            </a:r>
            <a:r>
              <a:rPr lang="pt-BR" sz="3600" b="1" i="1" dirty="0"/>
              <a:t> Neural Network </a:t>
            </a:r>
            <a:r>
              <a:rPr lang="pt-BR" sz="3600" b="1" i="1" dirty="0" err="1"/>
              <a:t>Inference</a:t>
            </a:r>
            <a:r>
              <a:rPr lang="pt-BR" sz="3600" b="1" i="1" dirty="0"/>
              <a:t> </a:t>
            </a:r>
            <a:r>
              <a:rPr lang="pt-BR" sz="3600" b="1" i="1" dirty="0" err="1"/>
              <a:t>at</a:t>
            </a:r>
            <a:r>
              <a:rPr lang="pt-BR" sz="3600" b="1" i="1" dirty="0"/>
              <a:t> </a:t>
            </a:r>
            <a:r>
              <a:rPr lang="pt-BR" sz="3600" b="1" i="1" dirty="0" err="1"/>
              <a:t>the</a:t>
            </a:r>
            <a:r>
              <a:rPr lang="pt-BR" sz="3600" b="1" i="1" dirty="0"/>
              <a:t> Edge </a:t>
            </a:r>
            <a:r>
              <a:rPr lang="pt-BR" sz="3600" b="1" i="1" dirty="0" err="1"/>
              <a:t>of</a:t>
            </a:r>
            <a:r>
              <a:rPr lang="pt-BR" sz="3600" b="1" i="1" dirty="0"/>
              <a:t> </a:t>
            </a:r>
            <a:r>
              <a:rPr lang="pt-BR" sz="3600" b="1" i="1" dirty="0" err="1"/>
              <a:t>the</a:t>
            </a:r>
            <a:r>
              <a:rPr lang="pt-BR" sz="3600" b="1" i="1" dirty="0"/>
              <a:t> Internet </a:t>
            </a:r>
            <a:r>
              <a:rPr lang="pt-BR" sz="3600" b="1" i="1" dirty="0" err="1"/>
              <a:t>of</a:t>
            </a:r>
            <a:r>
              <a:rPr lang="pt-BR" sz="3600" b="1" i="1" dirty="0"/>
              <a:t> </a:t>
            </a:r>
            <a:r>
              <a:rPr lang="pt-BR" sz="3600" b="1" i="1" dirty="0" err="1"/>
              <a:t>Things</a:t>
            </a:r>
            <a:endParaRPr lang="pt-BR" sz="3600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Gabriel Dias Scarpioni</a:t>
            </a:r>
          </a:p>
          <a:p>
            <a:r>
              <a:rPr lang="pt-BR" dirty="0"/>
              <a:t>gabriel.scarpioni@inatel.br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673089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Abertura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50880" cy="4351338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pt-BR" dirty="0"/>
              <a:t>Expansão das aplicações de Internet das Coisas (IoT):</a:t>
            </a:r>
          </a:p>
          <a:p>
            <a:pPr lvl="1" fontAlgn="base"/>
            <a:r>
              <a:rPr lang="pt-BR" dirty="0"/>
              <a:t>Dispositivos de baixa potência.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Necessidade de processamento de dados próximo à fonte:</a:t>
            </a:r>
          </a:p>
          <a:p>
            <a:pPr lvl="1" fontAlgn="base"/>
            <a:r>
              <a:rPr lang="pt-BR" dirty="0"/>
              <a:t>Edge </a:t>
            </a:r>
            <a:r>
              <a:rPr lang="pt-BR" dirty="0" err="1"/>
              <a:t>Computing</a:t>
            </a:r>
            <a:r>
              <a:rPr lang="pt-BR" dirty="0"/>
              <a:t>.</a:t>
            </a:r>
          </a:p>
          <a:p>
            <a:pPr lvl="1" fontAlgn="base"/>
            <a:endParaRPr lang="pt-BR" dirty="0"/>
          </a:p>
          <a:p>
            <a:pPr fontAlgn="base"/>
            <a:r>
              <a:rPr lang="pt-BR" dirty="0"/>
              <a:t>Limitações de hardware:</a:t>
            </a:r>
          </a:p>
          <a:p>
            <a:pPr marL="0" indent="0" fontAlgn="base">
              <a:buNone/>
            </a:pPr>
            <a:endParaRPr lang="pt-BR" dirty="0"/>
          </a:p>
          <a:p>
            <a:pPr lvl="1" fontAlgn="base"/>
            <a:r>
              <a:rPr lang="pt-BR" dirty="0"/>
              <a:t>memória reduzida;</a:t>
            </a:r>
          </a:p>
          <a:p>
            <a:pPr marL="457200" lvl="1" indent="0" fontAlgn="base">
              <a:buNone/>
            </a:pPr>
            <a:endParaRPr lang="pt-BR" dirty="0"/>
          </a:p>
          <a:p>
            <a:pPr lvl="1" fontAlgn="base"/>
            <a:r>
              <a:rPr lang="pt-BR" dirty="0"/>
              <a:t>capacidade computacional limitada;</a:t>
            </a:r>
          </a:p>
          <a:p>
            <a:pPr marL="457200" lvl="1" indent="0" fontAlgn="base">
              <a:buNone/>
            </a:pPr>
            <a:endParaRPr lang="pt-BR" dirty="0"/>
          </a:p>
          <a:p>
            <a:pPr lvl="1" fontAlgn="base"/>
            <a:r>
              <a:rPr lang="pt-BR" dirty="0"/>
              <a:t>restrições energéticas.</a:t>
            </a:r>
          </a:p>
        </p:txBody>
      </p:sp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Abertura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50880" cy="4679632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pt-BR" dirty="0"/>
              <a:t>FANN-</a:t>
            </a:r>
            <a:r>
              <a:rPr lang="pt-BR" dirty="0" err="1"/>
              <a:t>on</a:t>
            </a:r>
            <a:r>
              <a:rPr lang="pt-BR" dirty="0"/>
              <a:t>-MCU:</a:t>
            </a:r>
          </a:p>
          <a:p>
            <a:pPr lvl="1" fontAlgn="base"/>
            <a:r>
              <a:rPr lang="pt-BR" dirty="0"/>
              <a:t>Toolkit open-</a:t>
            </a:r>
            <a:r>
              <a:rPr lang="pt-BR" dirty="0" err="1"/>
              <a:t>source</a:t>
            </a:r>
            <a:r>
              <a:rPr lang="pt-BR" dirty="0"/>
              <a:t>;</a:t>
            </a:r>
          </a:p>
          <a:p>
            <a:pPr lvl="1" fontAlgn="base"/>
            <a:r>
              <a:rPr lang="en-US" dirty="0"/>
              <a:t>Fast Artificial Neural Network (FANN);</a:t>
            </a:r>
            <a:endParaRPr lang="pt-BR" dirty="0"/>
          </a:p>
          <a:p>
            <a:pPr lvl="1" fontAlgn="base"/>
            <a:r>
              <a:rPr lang="pt-BR" dirty="0"/>
              <a:t>Geração de código otimizado para </a:t>
            </a:r>
            <a:r>
              <a:rPr lang="pt-BR" dirty="0" err="1"/>
              <a:t>microcotroladores</a:t>
            </a:r>
            <a:r>
              <a:rPr lang="pt-BR" dirty="0"/>
              <a:t>.</a:t>
            </a:r>
          </a:p>
          <a:p>
            <a:pPr marL="457200" lvl="1" indent="0" fontAlgn="base">
              <a:buNone/>
            </a:pPr>
            <a:endParaRPr lang="pt-BR" dirty="0"/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A</a:t>
            </a:r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nálise de eficiência energética entre diferentes núcleos;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A</a:t>
            </a:r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nálise das acelerações paralelas e das degradações devido à sobrecarga de paralelização e transferências de memória.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Resultados experimentais.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4187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pt-BR" dirty="0"/>
              <a:t>ML aplicado em sistemas de IoT e dispositivos móveis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dirty="0"/>
              <a:t>extrair informações de grandes volumes de dados sensoriais.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Redes neurais apresentam alta precisão em tarefas de classificação.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Limitação do modelo tradicional: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Atualmente, o processamento de ML ocorre principalmente na nuvem;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Dispositivos IoT enviam dados brutos ou pouco processados para processamento remoto.</a:t>
            </a:r>
          </a:p>
          <a:p>
            <a:pPr marL="0" indent="0" fontAlgn="base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25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/>
              <a:t>Problema do modelo tradicional no contexto de IoT: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Sobrecarga da rede;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Maior consumo de energia na transmissão;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Latência;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Questões de privacidade e confiabilidade.</a:t>
            </a:r>
          </a:p>
          <a:p>
            <a:pPr marL="0" indent="0" fontAlgn="base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8884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pt-BR" dirty="0"/>
              <a:t>Edge </a:t>
            </a:r>
            <a:r>
              <a:rPr lang="pt-BR" dirty="0" err="1"/>
              <a:t>Computing</a:t>
            </a:r>
            <a:r>
              <a:rPr lang="pt-BR" dirty="0"/>
              <a:t> como alternativa.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Desafios:</a:t>
            </a:r>
          </a:p>
          <a:p>
            <a:pPr marL="0" indent="0" fontAlgn="base">
              <a:buNone/>
            </a:pPr>
            <a:endParaRPr lang="pt-BR" dirty="0"/>
          </a:p>
          <a:p>
            <a:pPr lvl="1"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A</a:t>
            </a:r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bordagens em computação em nuvem utiliza redes neurais </a:t>
            </a:r>
            <a:r>
              <a:rPr lang="pt-BR" b="0" i="0" dirty="0" err="1">
                <a:solidFill>
                  <a:srgbClr val="303030"/>
                </a:solidFill>
                <a:effectLst/>
                <a:latin typeface="Google Sans Text"/>
              </a:rPr>
              <a:t>convolucionais</a:t>
            </a:r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 profundas;</a:t>
            </a:r>
            <a:endParaRPr lang="pt-BR" dirty="0"/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Energia (alimentação por bateria);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Memória;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Capacidade de processamento.</a:t>
            </a:r>
          </a:p>
        </p:txBody>
      </p:sp>
    </p:spTree>
    <p:extLst>
      <p:ext uri="{BB962C8B-B14F-4D97-AF65-F5344CB8AC3E}">
        <p14:creationId xmlns:p14="http://schemas.microsoft.com/office/powerpoint/2010/main" val="2064495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pt-BR" dirty="0"/>
              <a:t>Objetivo: Desenvolver um framework que permita executar redes neurais em microcontroladores de baixo consumo de forma eficiente.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É possível executar redes neurais eficientes em microcontroladores de </a:t>
            </a:r>
            <a:r>
              <a:rPr lang="pt-BR" dirty="0" err="1"/>
              <a:t>ultra-baixo</a:t>
            </a:r>
            <a:r>
              <a:rPr lang="pt-BR" dirty="0"/>
              <a:t> consumo, desde que: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os algoritmos sejam leves (MLP);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o software seja otimizado para a arquitetura do hardware;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sejam exploradas técnicas de paralelismo e otimização de memória.</a:t>
            </a:r>
          </a:p>
        </p:txBody>
      </p:sp>
    </p:spTree>
    <p:extLst>
      <p:ext uri="{BB962C8B-B14F-4D97-AF65-F5344CB8AC3E}">
        <p14:creationId xmlns:p14="http://schemas.microsoft.com/office/powerpoint/2010/main" val="2079153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fontAlgn="base"/>
            <a:r>
              <a:rPr lang="pt-BR" dirty="0"/>
              <a:t>Contribuições:</a:t>
            </a:r>
          </a:p>
          <a:p>
            <a:pPr fontAlgn="base"/>
            <a:endParaRPr lang="pt-BR" dirty="0"/>
          </a:p>
          <a:p>
            <a:pPr lvl="1" fontAlgn="base"/>
            <a:r>
              <a:rPr lang="pt-BR" i="0" dirty="0">
                <a:solidFill>
                  <a:srgbClr val="303030"/>
                </a:solidFill>
                <a:effectLst/>
                <a:latin typeface="Google Sans Text"/>
              </a:rPr>
              <a:t>FANN-</a:t>
            </a:r>
            <a:r>
              <a:rPr lang="pt-BR" i="0" dirty="0" err="1">
                <a:solidFill>
                  <a:srgbClr val="303030"/>
                </a:solidFill>
                <a:effectLst/>
                <a:latin typeface="Google Sans Text"/>
              </a:rPr>
              <a:t>on</a:t>
            </a:r>
            <a:r>
              <a:rPr lang="pt-BR" i="0" dirty="0">
                <a:solidFill>
                  <a:srgbClr val="303030"/>
                </a:solidFill>
                <a:effectLst/>
                <a:latin typeface="Google Sans Text"/>
              </a:rPr>
              <a:t>-MCU para processadores ARM e RISC-V;</a:t>
            </a:r>
          </a:p>
          <a:p>
            <a:pPr lvl="1"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i="0" dirty="0">
                <a:solidFill>
                  <a:srgbClr val="303030"/>
                </a:solidFill>
                <a:effectLst/>
                <a:latin typeface="Google Sans Text"/>
              </a:rPr>
              <a:t>Comparações de desempenho e uso de memória;</a:t>
            </a:r>
          </a:p>
          <a:p>
            <a:pPr lvl="1"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i="0" dirty="0">
                <a:solidFill>
                  <a:srgbClr val="303030"/>
                </a:solidFill>
                <a:effectLst/>
                <a:latin typeface="Google Sans Text"/>
              </a:rPr>
              <a:t>Otimizações para diferentes tamanhos de rede e hierarquias de memória;</a:t>
            </a:r>
          </a:p>
          <a:p>
            <a:pPr lvl="1"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i="0" dirty="0">
                <a:solidFill>
                  <a:srgbClr val="303030"/>
                </a:solidFill>
                <a:effectLst/>
                <a:latin typeface="Google Sans Text"/>
              </a:rPr>
              <a:t>Análise detalhada de ganhos e perdas por paralelização;</a:t>
            </a:r>
          </a:p>
          <a:p>
            <a:pPr lvl="1"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i="0" dirty="0">
                <a:solidFill>
                  <a:srgbClr val="303030"/>
                </a:solidFill>
                <a:effectLst/>
                <a:latin typeface="Google Sans Text"/>
              </a:rPr>
              <a:t>Implementação em cenários reais, como reconhecimento de gestos, detecção de quedas e classificação de atividades humanas;</a:t>
            </a:r>
          </a:p>
          <a:p>
            <a:pPr lvl="1"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i="0" dirty="0">
                <a:solidFill>
                  <a:srgbClr val="303030"/>
                </a:solidFill>
                <a:effectLst/>
                <a:latin typeface="Google Sans Text"/>
              </a:rPr>
              <a:t>Resultados experimentais com medições de campo;</a:t>
            </a:r>
          </a:p>
          <a:p>
            <a:pPr lvl="1"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i="0" dirty="0">
                <a:solidFill>
                  <a:srgbClr val="303030"/>
                </a:solidFill>
                <a:effectLst/>
                <a:latin typeface="Google Sans Text"/>
              </a:rPr>
              <a:t>Lançamento do kit de ferramentas como software de código aberto.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 - </a:t>
            </a:r>
            <a:r>
              <a:rPr lang="pt-BR" dirty="0" err="1"/>
              <a:t>Multilayer</a:t>
            </a:r>
            <a:r>
              <a:rPr lang="pt-BR" dirty="0"/>
              <a:t> </a:t>
            </a:r>
            <a:r>
              <a:rPr lang="pt-BR" dirty="0" err="1"/>
              <a:t>Perceptron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2251"/>
            <a:ext cx="5953298" cy="4351338"/>
          </a:xfrm>
        </p:spPr>
        <p:txBody>
          <a:bodyPr/>
          <a:lstStyle/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E</a:t>
            </a:r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specificado pelo número de camadas ocultas, o número de nós em cada camada e quais não linearidades são usadas</a:t>
            </a:r>
          </a:p>
          <a:p>
            <a:pPr marL="0" indent="0" fontAlgn="base">
              <a:buNone/>
            </a:pPr>
            <a:endParaRPr lang="pt-BR" dirty="0"/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M</a:t>
            </a:r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enos exigentes do que as redes </a:t>
            </a:r>
            <a:r>
              <a:rPr lang="pt-BR" b="0" i="0" dirty="0" err="1">
                <a:solidFill>
                  <a:srgbClr val="303030"/>
                </a:solidFill>
                <a:effectLst/>
                <a:latin typeface="Google Sans Text"/>
              </a:rPr>
              <a:t>convolucionais</a:t>
            </a:r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 profundas em termos de requisitos de memória e computação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382ADA0-FE8E-DA5E-7F0F-652B0C78D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844" y="2197620"/>
            <a:ext cx="4806142" cy="193716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6958E0C-555F-3AE3-59A7-713885273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203" y="4641721"/>
            <a:ext cx="3547344" cy="93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29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 – ARM </a:t>
            </a:r>
            <a:r>
              <a:rPr lang="pt-BR" dirty="0" err="1"/>
              <a:t>Cortex</a:t>
            </a:r>
            <a:r>
              <a:rPr lang="pt-BR" dirty="0"/>
              <a:t>-M Family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7192"/>
            <a:ext cx="11057313" cy="4351338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/>
              <a:t>ARM </a:t>
            </a:r>
            <a:r>
              <a:rPr lang="pt-BR" dirty="0" err="1"/>
              <a:t>Cortex</a:t>
            </a:r>
            <a:r>
              <a:rPr lang="pt-BR" dirty="0"/>
              <a:t>-M (M0, M3, M4 e M7)</a:t>
            </a:r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Plataforma </a:t>
            </a:r>
            <a:r>
              <a:rPr lang="pt-BR" dirty="0" err="1">
                <a:solidFill>
                  <a:srgbClr val="303030"/>
                </a:solidFill>
                <a:latin typeface="Google Sans Text"/>
              </a:rPr>
              <a:t>multicore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open-</a:t>
            </a:r>
            <a:r>
              <a:rPr lang="pt-BR" dirty="0" err="1">
                <a:solidFill>
                  <a:srgbClr val="303030"/>
                </a:solidFill>
                <a:latin typeface="Google Sans Text"/>
              </a:rPr>
              <a:t>source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baseada em RISC-V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dirty="0" err="1">
                <a:solidFill>
                  <a:srgbClr val="303030"/>
                </a:solidFill>
                <a:latin typeface="Google Sans Text"/>
              </a:rPr>
              <a:t>Fabric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</a:t>
            </a:r>
            <a:r>
              <a:rPr lang="pt-BR" dirty="0" err="1">
                <a:solidFill>
                  <a:srgbClr val="303030"/>
                </a:solidFill>
                <a:latin typeface="Google Sans Text"/>
              </a:rPr>
              <a:t>Controller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+ Cluster múltiplos cores + memória hierárquica + DMA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Projetada para alta eficiência energética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Processador Mr. Wolf</a:t>
            </a:r>
          </a:p>
          <a:p>
            <a:pPr marL="0" indent="0" fontAlgn="base">
              <a:buNone/>
            </a:pPr>
            <a:endParaRPr lang="pt-BR" dirty="0">
              <a:solidFill>
                <a:srgbClr val="303030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4027610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29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 – PULP Processors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42251"/>
            <a:ext cx="11057313" cy="4351338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 err="1">
                <a:solidFill>
                  <a:srgbClr val="303030"/>
                </a:solidFill>
                <a:latin typeface="Google Sans Text"/>
              </a:rPr>
              <a:t>Parallel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Ultra </a:t>
            </a:r>
            <a:r>
              <a:rPr lang="pt-BR" dirty="0" err="1">
                <a:solidFill>
                  <a:srgbClr val="303030"/>
                </a:solidFill>
                <a:latin typeface="Google Sans Text"/>
              </a:rPr>
              <a:t>Low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Power (PULP)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Plataforma </a:t>
            </a:r>
            <a:r>
              <a:rPr lang="pt-BR" dirty="0" err="1">
                <a:solidFill>
                  <a:srgbClr val="303030"/>
                </a:solidFill>
                <a:latin typeface="Google Sans Text"/>
              </a:rPr>
              <a:t>multicore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open-</a:t>
            </a:r>
            <a:r>
              <a:rPr lang="pt-BR" dirty="0" err="1">
                <a:solidFill>
                  <a:srgbClr val="303030"/>
                </a:solidFill>
                <a:latin typeface="Google Sans Text"/>
              </a:rPr>
              <a:t>source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baseada em RISC-V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lvl="1" fontAlgn="base"/>
            <a:r>
              <a:rPr lang="pt-BR" dirty="0" err="1">
                <a:solidFill>
                  <a:srgbClr val="303030"/>
                </a:solidFill>
                <a:latin typeface="Google Sans Text"/>
              </a:rPr>
              <a:t>Fabric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</a:t>
            </a:r>
            <a:r>
              <a:rPr lang="pt-BR" dirty="0" err="1">
                <a:solidFill>
                  <a:srgbClr val="303030"/>
                </a:solidFill>
                <a:latin typeface="Google Sans Text"/>
              </a:rPr>
              <a:t>Controller</a:t>
            </a:r>
            <a:r>
              <a:rPr lang="pt-BR" dirty="0">
                <a:solidFill>
                  <a:srgbClr val="303030"/>
                </a:solidFill>
                <a:latin typeface="Google Sans Text"/>
              </a:rPr>
              <a:t> + Cluster múltiplos cores + memória hierárquica + DMA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Projetada para alta eficiência energética</a:t>
            </a:r>
          </a:p>
          <a:p>
            <a:pPr fontAlgn="base"/>
            <a:endParaRPr lang="pt-BR" dirty="0">
              <a:solidFill>
                <a:srgbClr val="303030"/>
              </a:solidFill>
              <a:latin typeface="Google Sans Text"/>
            </a:endParaRPr>
          </a:p>
          <a:p>
            <a:pPr fontAlgn="base"/>
            <a:r>
              <a:rPr lang="pt-BR" dirty="0">
                <a:solidFill>
                  <a:srgbClr val="303030"/>
                </a:solidFill>
                <a:latin typeface="Google Sans Text"/>
              </a:rPr>
              <a:t>Processador Mr. Wolf</a:t>
            </a:r>
          </a:p>
          <a:p>
            <a:pPr marL="0" indent="0" fontAlgn="base">
              <a:buNone/>
            </a:pPr>
            <a:endParaRPr lang="pt-BR" dirty="0">
              <a:solidFill>
                <a:srgbClr val="303030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1712027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 – PULP Processors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FDC9EF6-EA34-1B7F-239C-357BC7F76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881" y="1007865"/>
            <a:ext cx="7378238" cy="567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81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98629" cy="1325563"/>
          </a:xfrm>
        </p:spPr>
        <p:txBody>
          <a:bodyPr>
            <a:normAutofit/>
          </a:bodyPr>
          <a:lstStyle/>
          <a:p>
            <a:r>
              <a:rPr lang="pt-BR" dirty="0"/>
              <a:t>Fundamentação teórica – PULP Processors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EA0F912-1741-0EB8-65C4-5AE8B93FC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1175567"/>
            <a:ext cx="11202963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1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Fundamentação teórica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 err="1"/>
              <a:t>Multilayer</a:t>
            </a:r>
            <a:r>
              <a:rPr lang="pt-BR" dirty="0"/>
              <a:t> </a:t>
            </a:r>
            <a:r>
              <a:rPr lang="pt-BR" dirty="0" err="1"/>
              <a:t>Perceptron</a:t>
            </a:r>
            <a:endParaRPr lang="pt-BR" dirty="0"/>
          </a:p>
          <a:p>
            <a:pPr fontAlgn="base"/>
            <a:r>
              <a:rPr lang="pt-BR" dirty="0"/>
              <a:t>Trabalhos relacionados mais importantes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019551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Fundamentação teórica 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FF72EB0E-87AB-C7B0-3B4A-A282ABDEC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178E091-BB68-3B5A-659D-0EADBE127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97" y="1825625"/>
            <a:ext cx="12192000" cy="341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89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/>
              <a:t>Base de dados / cenário experimental</a:t>
            </a:r>
          </a:p>
          <a:p>
            <a:pPr fontAlgn="base"/>
            <a:r>
              <a:rPr lang="pt-BR" dirty="0"/>
              <a:t>Modelos, algoritmos ou abordagem</a:t>
            </a:r>
          </a:p>
          <a:p>
            <a:pPr fontAlgn="base"/>
            <a:r>
              <a:rPr lang="pt-BR" dirty="0"/>
              <a:t>Fluxo do método</a:t>
            </a:r>
          </a:p>
        </p:txBody>
      </p:sp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Estrutura da Inferência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 inferência de um </a:t>
            </a:r>
            <a:r>
              <a:rPr lang="pt-BR" b="1" dirty="0"/>
              <a:t>MLP</a:t>
            </a:r>
            <a:r>
              <a:rPr lang="pt-BR" dirty="0"/>
              <a:t> é composta por duas etapas principais: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Cálculo da </a:t>
            </a:r>
            <a:r>
              <a:rPr lang="pt-BR" b="1" dirty="0"/>
              <a:t>função linear</a:t>
            </a:r>
            <a:r>
              <a:rPr lang="pt-BR" dirty="0"/>
              <a:t> (produto escalar entre entradas e pesos)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Aplicação da </a:t>
            </a:r>
            <a:r>
              <a:rPr lang="pt-BR" b="1" dirty="0"/>
              <a:t>função de ativação não linear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As avaliações foram realizadas </a:t>
            </a:r>
            <a:r>
              <a:rPr lang="pt-BR" b="1" dirty="0"/>
              <a:t>separando essas duas etapas</a:t>
            </a:r>
            <a:endParaRPr lang="pt-BR" dirty="0"/>
          </a:p>
          <a:p>
            <a:r>
              <a:rPr lang="pt-BR" b="1" dirty="0"/>
              <a:t>Arquiteturas Avaliadas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ARM Cortex-M4 (STM32L475VG)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RI5CY (Plataforma Mr. Wolf – PULP)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Implementações testadas 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Floating-point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 err="1"/>
              <a:t>Fixed</a:t>
            </a:r>
            <a:r>
              <a:rPr lang="pt-BR" b="1" dirty="0"/>
              <a:t>-point</a:t>
            </a:r>
            <a:r>
              <a:rPr lang="pt-BR" dirty="0"/>
              <a:t> (para dispositivos sem FPU)</a:t>
            </a:r>
          </a:p>
        </p:txBody>
      </p:sp>
    </p:spTree>
    <p:extLst>
      <p:ext uri="{BB962C8B-B14F-4D97-AF65-F5344CB8AC3E}">
        <p14:creationId xmlns:p14="http://schemas.microsoft.com/office/powerpoint/2010/main" val="3664050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pt-BR" dirty="0"/>
              <a:t>Identificação de ineficiência na biblioteca </a:t>
            </a:r>
            <a:r>
              <a:rPr lang="pt-BR" dirty="0" err="1"/>
              <a:t>FANNCortexM</a:t>
            </a:r>
            <a:endParaRPr lang="pt-BR" dirty="0"/>
          </a:p>
          <a:p>
            <a:pPr fontAlgn="base"/>
            <a:endParaRPr lang="pt-BR" dirty="0"/>
          </a:p>
          <a:p>
            <a:pPr fontAlgn="base"/>
            <a:r>
              <a:rPr lang="pt-BR" dirty="0"/>
              <a:t>O buffer intermediário do neurônio era: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Inicializado com bias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Sobrescrito imediatamente após o cálculo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Melhoria Introduzida (FANN-</a:t>
            </a:r>
            <a:r>
              <a:rPr lang="pt-BR" dirty="0" err="1"/>
              <a:t>on</a:t>
            </a:r>
            <a:r>
              <a:rPr lang="pt-BR" dirty="0"/>
              <a:t>-MCU)</a:t>
            </a:r>
          </a:p>
          <a:p>
            <a:pPr fontAlgn="base"/>
            <a:endParaRPr lang="pt-BR" dirty="0"/>
          </a:p>
          <a:p>
            <a:pPr lvl="1" fontAlgn="base"/>
            <a:r>
              <a:rPr lang="pt-BR" dirty="0"/>
              <a:t>Remoção da inicialização redundante do buffer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A65067B-A1B8-0DBB-495B-52AEED1F26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2415937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B15F691-67D2-0AC0-0D51-B98F4A71D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42" y="1325563"/>
            <a:ext cx="6791498" cy="5254692"/>
          </a:xfrm>
          <a:prstGeom prst="rect">
            <a:avLst/>
          </a:prstGeom>
        </p:spPr>
      </p:pic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EB27348A-93FF-69E9-0BE4-EB522C884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21" y="1546374"/>
            <a:ext cx="4688379" cy="4813069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Cortex-M4:</a:t>
            </a:r>
          </a:p>
          <a:p>
            <a:pPr marL="0" indent="0" fontAlgn="base">
              <a:buNone/>
            </a:pPr>
            <a:endParaRPr lang="pt-BR" dirty="0"/>
          </a:p>
          <a:p>
            <a:pPr lvl="1" fontAlgn="base"/>
            <a:r>
              <a:rPr lang="pt-BR" dirty="0"/>
              <a:t>Melhoria de 3.1% no floating-point e 7.7% no </a:t>
            </a:r>
            <a:r>
              <a:rPr lang="pt-BR" dirty="0" err="1"/>
              <a:t>fixed</a:t>
            </a:r>
            <a:r>
              <a:rPr lang="pt-BR" dirty="0"/>
              <a:t>-point</a:t>
            </a:r>
          </a:p>
          <a:p>
            <a:pPr marL="0" indent="0" fontAlgn="base">
              <a:buNone/>
            </a:pPr>
            <a:endParaRPr lang="pt-BR" dirty="0"/>
          </a:p>
          <a:p>
            <a:pPr lvl="1" fontAlgn="base"/>
            <a:r>
              <a:rPr lang="pt-BR" dirty="0" err="1"/>
              <a:t>fixed</a:t>
            </a:r>
            <a:r>
              <a:rPr lang="pt-BR" dirty="0"/>
              <a:t>-point ≈ 15% mais rápida (7/8 &gt; número de instruções)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matrizes de pesos = 88% do tempo total de computação (melhor caso)</a:t>
            </a:r>
          </a:p>
          <a:p>
            <a:pPr lvl="1"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AA247AF-3C10-E0B1-45C0-AFA4FD5FA43A}"/>
              </a:ext>
            </a:extLst>
          </p:cNvPr>
          <p:cNvSpPr txBox="1"/>
          <p:nvPr/>
        </p:nvSpPr>
        <p:spPr>
          <a:xfrm>
            <a:off x="3948545" y="2518756"/>
            <a:ext cx="60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95%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70AA6EA-2BFF-4AA4-FAD5-482652DF7300}"/>
              </a:ext>
            </a:extLst>
          </p:cNvPr>
          <p:cNvSpPr txBox="1"/>
          <p:nvPr/>
        </p:nvSpPr>
        <p:spPr>
          <a:xfrm>
            <a:off x="3203170" y="1814946"/>
            <a:ext cx="60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89%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D8F1E9E7-4EFC-141F-8C0A-23D2D186CC6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390698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B15F691-67D2-0AC0-0D51-B98F4A71D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07" y="1325563"/>
            <a:ext cx="6791498" cy="5254692"/>
          </a:xfrm>
          <a:prstGeom prst="rect">
            <a:avLst/>
          </a:prstGeom>
        </p:spPr>
      </p:pic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EB27348A-93FF-69E9-0BE4-EB522C884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5076" y="1546374"/>
            <a:ext cx="4688379" cy="4813069"/>
          </a:xfrm>
        </p:spPr>
        <p:txBody>
          <a:bodyPr>
            <a:normAutofit/>
          </a:bodyPr>
          <a:lstStyle/>
          <a:p>
            <a:pPr fontAlgn="base"/>
            <a:r>
              <a:rPr lang="pt-BR" sz="2400" dirty="0"/>
              <a:t>RI5CY (single core) versus Cortex-M4:</a:t>
            </a:r>
          </a:p>
          <a:p>
            <a:pPr lvl="1" fontAlgn="base"/>
            <a:r>
              <a:rPr lang="pt-BR" dirty="0"/>
              <a:t>1.3× mais rápido (</a:t>
            </a:r>
            <a:r>
              <a:rPr lang="pt-BR" dirty="0" err="1"/>
              <a:t>float</a:t>
            </a:r>
            <a:r>
              <a:rPr lang="pt-BR" dirty="0"/>
              <a:t>)</a:t>
            </a:r>
          </a:p>
          <a:p>
            <a:pPr lvl="1" fontAlgn="base"/>
            <a:endParaRPr lang="pt-BR" dirty="0"/>
          </a:p>
          <a:p>
            <a:pPr lvl="1" fontAlgn="base"/>
            <a:r>
              <a:rPr lang="pt-BR" dirty="0"/>
              <a:t>1.4× mais rápido (</a:t>
            </a:r>
            <a:r>
              <a:rPr lang="pt-BR" dirty="0" err="1"/>
              <a:t>fixed</a:t>
            </a:r>
            <a:r>
              <a:rPr lang="pt-BR" dirty="0"/>
              <a:t>)</a:t>
            </a:r>
          </a:p>
          <a:p>
            <a:pPr marL="457200" lvl="1" indent="0" fontAlgn="base">
              <a:buNone/>
            </a:pPr>
            <a:endParaRPr lang="pt-BR" dirty="0"/>
          </a:p>
          <a:p>
            <a:pPr fontAlgn="base"/>
            <a:r>
              <a:rPr lang="pt-BR" dirty="0"/>
              <a:t>Paralelização = até 6× de </a:t>
            </a:r>
            <a:r>
              <a:rPr lang="pt-BR" dirty="0" err="1"/>
              <a:t>speedup</a:t>
            </a:r>
            <a:endParaRPr lang="pt-BR" dirty="0"/>
          </a:p>
          <a:p>
            <a:pPr fontAlgn="base"/>
            <a:endParaRPr lang="pt-BR" dirty="0"/>
          </a:p>
          <a:p>
            <a:pPr fontAlgn="base"/>
            <a:r>
              <a:rPr lang="pt-BR" dirty="0">
                <a:solidFill>
                  <a:srgbClr val="FF0000"/>
                </a:solidFill>
              </a:rPr>
              <a:t>Ativação passa a representar uma fração maior do </a:t>
            </a:r>
            <a:r>
              <a:rPr lang="pt-BR" dirty="0" err="1">
                <a:solidFill>
                  <a:srgbClr val="FF0000"/>
                </a:solidFill>
              </a:rPr>
              <a:t>runtime</a:t>
            </a:r>
            <a:endParaRPr lang="pt-BR" dirty="0">
              <a:solidFill>
                <a:srgbClr val="FF0000"/>
              </a:solidFill>
            </a:endParaRPr>
          </a:p>
          <a:p>
            <a:pPr marL="457200" lvl="1" indent="0" fontAlgn="base">
              <a:buNone/>
            </a:pPr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7A4BC5B-64A3-BB1D-C08A-8F19A87E688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2827362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33852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dirty="0"/>
              <a:t>Análise de desempenho de uma única camada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Cálculo das matrizes de pesos sem considerar as funções de ativação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STM32L475VG com ARM Cortex-M4, utilizando implementação em ponto fixo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Núcleo IBEX utilizando o conjunto básico de instruções RV32IM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Tempo de execução em número de ciclos de uma única camada ao variar o número de entradas e o número de saídas da camada</a:t>
            </a:r>
          </a:p>
          <a:p>
            <a:pPr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A65067B-A1B8-0DBB-495B-52AEED1F26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2527822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3088DDCE-D85B-47DA-48D6-F1B6A1A2F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03" y="143326"/>
            <a:ext cx="11778393" cy="6714674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94BEA342-8272-5659-B659-0613EA474AE5}"/>
              </a:ext>
            </a:extLst>
          </p:cNvPr>
          <p:cNvCxnSpPr/>
          <p:nvPr/>
        </p:nvCxnSpPr>
        <p:spPr>
          <a:xfrm flipH="1">
            <a:off x="1547446" y="2508738"/>
            <a:ext cx="2180492" cy="1524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2C0DDA-02DF-937E-FB17-0D5A9416B736}"/>
              </a:ext>
            </a:extLst>
          </p:cNvPr>
          <p:cNvSpPr txBox="1"/>
          <p:nvPr/>
        </p:nvSpPr>
        <p:spPr>
          <a:xfrm>
            <a:off x="3474242" y="2139406"/>
            <a:ext cx="1594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RAM + FLASH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EB50CEA8-CCF3-2484-A401-5B3AFB8C0CC3}"/>
              </a:ext>
            </a:extLst>
          </p:cNvPr>
          <p:cNvCxnSpPr/>
          <p:nvPr/>
        </p:nvCxnSpPr>
        <p:spPr>
          <a:xfrm flipH="1">
            <a:off x="7373818" y="2930769"/>
            <a:ext cx="2180492" cy="1524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9F041E-95C6-8508-16CA-5B55094DABF4}"/>
              </a:ext>
            </a:extLst>
          </p:cNvPr>
          <p:cNvSpPr txBox="1"/>
          <p:nvPr/>
        </p:nvSpPr>
        <p:spPr>
          <a:xfrm>
            <a:off x="9384780" y="2508738"/>
            <a:ext cx="2180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L2 DEDIDACA + L2 COMPARTILHADA</a:t>
            </a:r>
          </a:p>
        </p:txBody>
      </p:sp>
    </p:spTree>
    <p:extLst>
      <p:ext uri="{BB962C8B-B14F-4D97-AF65-F5344CB8AC3E}">
        <p14:creationId xmlns:p14="http://schemas.microsoft.com/office/powerpoint/2010/main" val="344347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5538D94-D43C-F3E0-A496-24537B075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65" y="0"/>
            <a:ext cx="11576070" cy="6858000"/>
          </a:xfrm>
          <a:prstGeom prst="rect">
            <a:avLst/>
          </a:prstGeom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94BEA342-8272-5659-B659-0613EA474AE5}"/>
              </a:ext>
            </a:extLst>
          </p:cNvPr>
          <p:cNvCxnSpPr/>
          <p:nvPr/>
        </p:nvCxnSpPr>
        <p:spPr>
          <a:xfrm flipH="1">
            <a:off x="1547446" y="2508738"/>
            <a:ext cx="2180492" cy="1524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2C0DDA-02DF-937E-FB17-0D5A9416B736}"/>
              </a:ext>
            </a:extLst>
          </p:cNvPr>
          <p:cNvSpPr txBox="1"/>
          <p:nvPr/>
        </p:nvSpPr>
        <p:spPr>
          <a:xfrm>
            <a:off x="3090150" y="2221468"/>
            <a:ext cx="1594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L2</a:t>
            </a:r>
          </a:p>
        </p:txBody>
      </p:sp>
    </p:spTree>
    <p:extLst>
      <p:ext uri="{BB962C8B-B14F-4D97-AF65-F5344CB8AC3E}">
        <p14:creationId xmlns:p14="http://schemas.microsoft.com/office/powerpoint/2010/main" val="344976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33852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pt-BR" dirty="0"/>
              <a:t>2,2× de aceleração utilizando um único núcleo RI5CY em relação ao IBEX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Adição de extensões personalizadas ao conjunto de instruções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Double-</a:t>
            </a:r>
            <a:r>
              <a:rPr lang="pt-BR" dirty="0" err="1"/>
              <a:t>buffering</a:t>
            </a:r>
            <a:r>
              <a:rPr lang="pt-BR" dirty="0"/>
              <a:t> + DMA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Entradas maiores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maiores ganhos </a:t>
            </a:r>
          </a:p>
          <a:p>
            <a:pPr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Overhead DMA desprezível frente ao tempo de computação</a:t>
            </a:r>
          </a:p>
          <a:p>
            <a:pPr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dirty="0"/>
              <a:t>Execução paralela em relação à execução com um único núcleo RI5CY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 7,7x </a:t>
            </a:r>
            <a:r>
              <a:rPr lang="pt-BR" dirty="0"/>
              <a:t>de aceleração </a:t>
            </a:r>
          </a:p>
          <a:p>
            <a:pPr lvl="1"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A65067B-A1B8-0DBB-495B-52AEED1F26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1278591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02F567-7453-B253-BBD8-5FACF48E1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77" y="0"/>
            <a:ext cx="11350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4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33852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Single- RI5CY x Cortex-M4 = 2x de aceleração </a:t>
            </a:r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r>
              <a:rPr lang="pt-BR" dirty="0" err="1"/>
              <a:t>Multi</a:t>
            </a:r>
            <a:r>
              <a:rPr lang="pt-BR" dirty="0"/>
              <a:t> RI5CY x Cortex-M4 = 13,5x de aceleração </a:t>
            </a:r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marL="457200" lvl="1" indent="0" fontAlgn="base">
              <a:buNone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A65067B-A1B8-0DBB-495B-52AEED1F26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1053522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33852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pt-BR" dirty="0"/>
              <a:t>2,2× de aceleração utilizando um único núcleo RI5CY em relação ao IBEX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Adição de extensões personalizadas ao conjunto de instruções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Double-</a:t>
            </a:r>
            <a:r>
              <a:rPr lang="pt-BR" dirty="0" err="1"/>
              <a:t>buffering</a:t>
            </a:r>
            <a:r>
              <a:rPr lang="pt-BR" dirty="0"/>
              <a:t> + DMA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Entradas maiores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maiores ganhos </a:t>
            </a:r>
          </a:p>
          <a:p>
            <a:pPr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Overhead DMA desprezível frente ao tempo de computação</a:t>
            </a:r>
          </a:p>
          <a:p>
            <a:pPr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pt-BR" dirty="0"/>
              <a:t>Execução paralela em relação à execução com um único núcleo RI5CY 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 7,7x </a:t>
            </a:r>
            <a:r>
              <a:rPr lang="pt-BR" dirty="0"/>
              <a:t>de aceleração </a:t>
            </a:r>
          </a:p>
          <a:p>
            <a:pPr lvl="1" fontAlgn="base"/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endParaRPr lang="pt-BR" dirty="0"/>
          </a:p>
          <a:p>
            <a:pPr lvl="1"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A65067B-A1B8-0DBB-495B-52AEED1F269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Resultados Experimentais</a:t>
            </a:r>
          </a:p>
        </p:txBody>
      </p:sp>
    </p:spTree>
    <p:extLst>
      <p:ext uri="{BB962C8B-B14F-4D97-AF65-F5344CB8AC3E}">
        <p14:creationId xmlns:p14="http://schemas.microsoft.com/office/powerpoint/2010/main" val="42768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9DAB9-0612-F0CD-7BB1-AF52B98B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/>
              <a:t>Principais gráficos/tabelas</a:t>
            </a:r>
          </a:p>
          <a:p>
            <a:pPr fontAlgn="base"/>
            <a:r>
              <a:rPr lang="pt-BR" dirty="0"/>
              <a:t>Comparação com estado da arte</a:t>
            </a:r>
          </a:p>
          <a:p>
            <a:pPr fontAlgn="base"/>
            <a:r>
              <a:rPr lang="pt-BR" dirty="0"/>
              <a:t>O que funcionou e o que não funcionou</a:t>
            </a:r>
          </a:p>
          <a:p>
            <a:pPr fontAlgn="base"/>
            <a:r>
              <a:rPr lang="pt-BR" dirty="0"/>
              <a:t>Reproduzir os resultados ou parte deles é importante.</a:t>
            </a:r>
          </a:p>
        </p:txBody>
      </p:sp>
    </p:spTree>
    <p:extLst>
      <p:ext uri="{BB962C8B-B14F-4D97-AF65-F5344CB8AC3E}">
        <p14:creationId xmlns:p14="http://schemas.microsoft.com/office/powerpoint/2010/main" val="523013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A9759-CA4F-DA4F-85C2-F6E51DCE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F732D-34CE-6153-324F-D7F682157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crítica do trabalho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A55622-8E11-E5D7-8EAF-7AE2CCAA3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/>
              <a:t>Pontos fortes</a:t>
            </a:r>
          </a:p>
          <a:p>
            <a:pPr fontAlgn="base"/>
            <a:r>
              <a:rPr lang="pt-BR" dirty="0"/>
              <a:t>Limitações</a:t>
            </a:r>
          </a:p>
          <a:p>
            <a:pPr fontAlgn="base"/>
            <a:r>
              <a:rPr lang="pt-BR" dirty="0"/>
              <a:t>Possíveis melhorias</a:t>
            </a:r>
          </a:p>
          <a:p>
            <a:pPr fontAlgn="base"/>
            <a:r>
              <a:rPr lang="pt-BR" dirty="0"/>
              <a:t>Aplicações práticas</a:t>
            </a:r>
          </a:p>
        </p:txBody>
      </p:sp>
    </p:spTree>
    <p:extLst>
      <p:ext uri="{BB962C8B-B14F-4D97-AF65-F5344CB8AC3E}">
        <p14:creationId xmlns:p14="http://schemas.microsoft.com/office/powerpoint/2010/main" val="1521811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502FC-4440-F5DA-F299-69CD15E7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359096-6B47-BEA3-55AD-95F90CDC8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/>
              <a:t>Síntese do que foi aprendido</a:t>
            </a:r>
          </a:p>
          <a:p>
            <a:pPr fontAlgn="base"/>
            <a:r>
              <a:rPr lang="pt-BR" dirty="0"/>
              <a:t>Impacto do trabalho</a:t>
            </a:r>
          </a:p>
          <a:p>
            <a:pPr fontAlgn="base"/>
            <a:r>
              <a:rPr lang="pt-BR" dirty="0"/>
              <a:t>Direções futuras propostas pelos autores ou encontradas por você</a:t>
            </a:r>
          </a:p>
        </p:txBody>
      </p:sp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Artigos, livros, blogs, etc. usados como referência para o desenvolvimento do seminário.</a:t>
            </a:r>
          </a:p>
        </p:txBody>
      </p:sp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9375</TotalTime>
  <Words>1016</Words>
  <Application>Microsoft Office PowerPoint</Application>
  <PresentationFormat>Widescreen</PresentationFormat>
  <Paragraphs>247</Paragraphs>
  <Slides>33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Google Sans Text</vt:lpstr>
      <vt:lpstr>Tema do Office</vt:lpstr>
      <vt:lpstr>TP558 - Tópicos avançados em Machine Learning:  FANN-on-MCU: An Open-Source Toolkit for Energy-Efficient Neural Network Inference at the Edge of the Internet of Things</vt:lpstr>
      <vt:lpstr>Abertura </vt:lpstr>
      <vt:lpstr>Abertura </vt:lpstr>
      <vt:lpstr>Introdução</vt:lpstr>
      <vt:lpstr>Introdução</vt:lpstr>
      <vt:lpstr>Introdução</vt:lpstr>
      <vt:lpstr>Introdução</vt:lpstr>
      <vt:lpstr>Introdução</vt:lpstr>
      <vt:lpstr>Fundamentação teórica - Multilayer Perceptron </vt:lpstr>
      <vt:lpstr>Fundamentação teórica – ARM Cortex-M Family</vt:lpstr>
      <vt:lpstr>Fundamentação teórica – PULP Processors </vt:lpstr>
      <vt:lpstr>Fundamentação teórica – PULP Processors </vt:lpstr>
      <vt:lpstr>Fundamentação teórica – PULP Processors </vt:lpstr>
      <vt:lpstr>Fundamentação teórica </vt:lpstr>
      <vt:lpstr>Fundamentação teórica </vt:lpstr>
      <vt:lpstr>Metodologia</vt:lpstr>
      <vt:lpstr>Metodologia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Resultados</vt:lpstr>
      <vt:lpstr>Análise crítica do trabalho</vt:lpstr>
      <vt:lpstr>Conclusão</vt:lpstr>
      <vt:lpstr>Apresentação do PowerPoint</vt:lpstr>
      <vt:lpstr>Referências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Gabriel Dias Scarpioni</cp:lastModifiedBy>
  <cp:revision>1741</cp:revision>
  <dcterms:created xsi:type="dcterms:W3CDTF">2020-01-20T13:50:05Z</dcterms:created>
  <dcterms:modified xsi:type="dcterms:W3CDTF">2026-03-14T10:54:18Z</dcterms:modified>
</cp:coreProperties>
</file>